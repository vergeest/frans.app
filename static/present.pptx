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Roboto Slab Bold" charset="1" panose="00000000000000000000"/>
      <p:regular r:id="rId27"/>
    </p:embeddedFont>
    <p:embeddedFont>
      <p:font typeface="Roboto Slab" charset="1" panose="00000000000000000000"/>
      <p:regular r:id="rId28"/>
    </p:embeddedFont>
    <p:embeddedFont>
      <p:font typeface="Garet Bold" charset="1" panose="00000000000000000000"/>
      <p:regular r:id="rId29"/>
    </p:embeddedFont>
    <p:embeddedFont>
      <p:font typeface="Arimo Bold" charset="1" panose="020B0704020202020204"/>
      <p:regular r:id="rId30"/>
    </p:embeddedFont>
    <p:embeddedFont>
      <p:font typeface="Berthold Block" charset="1" panose="02000506040000020004"/>
      <p:regular r:id="rId31"/>
    </p:embeddedFont>
    <p:embeddedFont>
      <p:font typeface="Garet" charset="1" panose="00000000000000000000"/>
      <p:regular r:id="rId32"/>
    </p:embeddedFont>
    <p:embeddedFont>
      <p:font typeface="Canva Sans Bold" charset="1" panose="020B08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svg" Type="http://schemas.openxmlformats.org/officeDocument/2006/relationships/image"/><Relationship Id="rId4" Target="../media/image6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Relationship Id="rId6" Target="../media/image7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4.png" Type="http://schemas.openxmlformats.org/officeDocument/2006/relationships/image"/><Relationship Id="rId4" Target="../media/image7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Relationship Id="rId6" Target="../media/image7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0.svg" Type="http://schemas.openxmlformats.org/officeDocument/2006/relationships/image"/><Relationship Id="rId4" Target="../media/image81.png" Type="http://schemas.openxmlformats.org/officeDocument/2006/relationships/image"/><Relationship Id="rId5" Target="../media/image82.svg" Type="http://schemas.openxmlformats.org/officeDocument/2006/relationships/image"/><Relationship Id="rId6" Target="../media/image7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svg" Type="http://schemas.openxmlformats.org/officeDocument/2006/relationships/image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Relationship Id="rId6" Target="../media/image87.png" Type="http://schemas.openxmlformats.org/officeDocument/2006/relationships/image"/><Relationship Id="rId7" Target="../media/image88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Relationship Id="rId4" Target="../media/image74.png" Type="http://schemas.openxmlformats.org/officeDocument/2006/relationships/image"/><Relationship Id="rId5" Target="../media/image91.png" Type="http://schemas.openxmlformats.org/officeDocument/2006/relationships/image"/><Relationship Id="rId6" Target="../media/image92.svg" Type="http://schemas.openxmlformats.org/officeDocument/2006/relationships/image"/><Relationship Id="rId7" Target="../media/image93.pn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jpeg" Type="http://schemas.openxmlformats.org/officeDocument/2006/relationships/image"/><Relationship Id="rId3" Target="../media/image74.png" Type="http://schemas.openxmlformats.org/officeDocument/2006/relationships/image"/><Relationship Id="rId4" Target="../media/image95.png" Type="http://schemas.openxmlformats.org/officeDocument/2006/relationships/image"/><Relationship Id="rId5" Target="../media/image96.svg" Type="http://schemas.openxmlformats.org/officeDocument/2006/relationships/image"/><Relationship Id="rId6" Target="../media/image97.png" Type="http://schemas.openxmlformats.org/officeDocument/2006/relationships/image"/><Relationship Id="rId7" Target="../media/image98.svg" Type="http://schemas.openxmlformats.org/officeDocument/2006/relationships/image"/><Relationship Id="rId8" Target="../media/image99.png" Type="http://schemas.openxmlformats.org/officeDocument/2006/relationships/image"/><Relationship Id="rId9" Target="../media/image10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2" Target="../media/image101.png" Type="http://schemas.openxmlformats.org/officeDocument/2006/relationships/image"/><Relationship Id="rId3" Target="../media/image102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Relationship Id="rId6" Target="../media/image105.png" Type="http://schemas.openxmlformats.org/officeDocument/2006/relationships/image"/><Relationship Id="rId7" Target="../media/image106.svg" Type="http://schemas.openxmlformats.org/officeDocument/2006/relationships/image"/><Relationship Id="rId8" Target="../media/image107.png" Type="http://schemas.openxmlformats.org/officeDocument/2006/relationships/image"/><Relationship Id="rId9" Target="../media/image10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png" Type="http://schemas.openxmlformats.org/officeDocument/2006/relationships/image"/><Relationship Id="rId11" Target="../media/image119.svg" Type="http://schemas.openxmlformats.org/officeDocument/2006/relationships/image"/><Relationship Id="rId12" Target="../media/image69.png" Type="http://schemas.openxmlformats.org/officeDocument/2006/relationships/image"/><Relationship Id="rId13" Target="../media/image120.png" Type="http://schemas.openxmlformats.org/officeDocument/2006/relationships/image"/><Relationship Id="rId14" Target="../media/image121.svg" Type="http://schemas.openxmlformats.org/officeDocument/2006/relationships/image"/><Relationship Id="rId15" Target="../media/image122.png" Type="http://schemas.openxmlformats.org/officeDocument/2006/relationships/image"/><Relationship Id="rId16" Target="../media/image123.svg" Type="http://schemas.openxmlformats.org/officeDocument/2006/relationships/image"/><Relationship Id="rId17" Target="../media/image35.png" Type="http://schemas.openxmlformats.org/officeDocument/2006/relationships/image"/><Relationship Id="rId18" Target="../media/image36.svg" Type="http://schemas.openxmlformats.org/officeDocument/2006/relationships/image"/><Relationship Id="rId2" Target="../media/image110.png" Type="http://schemas.openxmlformats.org/officeDocument/2006/relationships/image"/><Relationship Id="rId3" Target="../media/image111.svg" Type="http://schemas.openxmlformats.org/officeDocument/2006/relationships/image"/><Relationship Id="rId4" Target="../media/image112.png" Type="http://schemas.openxmlformats.org/officeDocument/2006/relationships/image"/><Relationship Id="rId5" Target="../media/image113.svg" Type="http://schemas.openxmlformats.org/officeDocument/2006/relationships/image"/><Relationship Id="rId6" Target="../media/image114.png" Type="http://schemas.openxmlformats.org/officeDocument/2006/relationships/image"/><Relationship Id="rId7" Target="../media/image115.svg" Type="http://schemas.openxmlformats.org/officeDocument/2006/relationships/image"/><Relationship Id="rId8" Target="../media/image116.png" Type="http://schemas.openxmlformats.org/officeDocument/2006/relationships/image"/><Relationship Id="rId9" Target="../media/image11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4.jpeg" Type="http://schemas.openxmlformats.org/officeDocument/2006/relationships/image"/><Relationship Id="rId3" Target="../media/image125.png" Type="http://schemas.openxmlformats.org/officeDocument/2006/relationships/image"/><Relationship Id="rId4" Target="../media/image126.svg" Type="http://schemas.openxmlformats.org/officeDocument/2006/relationships/image"/><Relationship Id="rId5" Target="../media/image70.png" Type="http://schemas.openxmlformats.org/officeDocument/2006/relationships/image"/><Relationship Id="rId6" Target="../media/image71.svg" Type="http://schemas.openxmlformats.org/officeDocument/2006/relationships/image"/><Relationship Id="rId7" Target="../media/image127.png" Type="http://schemas.openxmlformats.org/officeDocument/2006/relationships/image"/><Relationship Id="rId8" Target="../media/image12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91630" y="6954023"/>
            <a:ext cx="6367945" cy="6981139"/>
            <a:chOff x="0" y="0"/>
            <a:chExt cx="1677154" cy="1838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7154" cy="1838654"/>
            </a:xfrm>
            <a:custGeom>
              <a:avLst/>
              <a:gdLst/>
              <a:ahLst/>
              <a:cxnLst/>
              <a:rect r="r" b="b" t="t" l="l"/>
              <a:pathLst>
                <a:path h="1838654" w="1677154">
                  <a:moveTo>
                    <a:pt x="0" y="0"/>
                  </a:moveTo>
                  <a:lnTo>
                    <a:pt x="1677154" y="0"/>
                  </a:lnTo>
                  <a:lnTo>
                    <a:pt x="1677154" y="1838654"/>
                  </a:lnTo>
                  <a:lnTo>
                    <a:pt x="0" y="1838654"/>
                  </a:lnTo>
                  <a:close/>
                </a:path>
              </a:pathLst>
            </a:custGeom>
            <a:solidFill>
              <a:srgbClr val="A1D4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77154" cy="1838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954023"/>
            <a:ext cx="3973352" cy="3332977"/>
            <a:chOff x="0" y="0"/>
            <a:chExt cx="1046479" cy="8778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6479" cy="877821"/>
            </a:xfrm>
            <a:custGeom>
              <a:avLst/>
              <a:gdLst/>
              <a:ahLst/>
              <a:cxnLst/>
              <a:rect r="r" b="b" t="t" l="l"/>
              <a:pathLst>
                <a:path h="877821" w="1046479">
                  <a:moveTo>
                    <a:pt x="0" y="0"/>
                  </a:moveTo>
                  <a:lnTo>
                    <a:pt x="1046479" y="0"/>
                  </a:lnTo>
                  <a:lnTo>
                    <a:pt x="1046479" y="877821"/>
                  </a:lnTo>
                  <a:lnTo>
                    <a:pt x="0" y="877821"/>
                  </a:lnTo>
                  <a:close/>
                </a:path>
              </a:pathLst>
            </a:custGeom>
            <a:solidFill>
              <a:srgbClr val="F1B75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46479" cy="87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54299" y="6954023"/>
            <a:ext cx="3973352" cy="3332977"/>
            <a:chOff x="0" y="0"/>
            <a:chExt cx="1046479" cy="8778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6479" cy="877821"/>
            </a:xfrm>
            <a:custGeom>
              <a:avLst/>
              <a:gdLst/>
              <a:ahLst/>
              <a:cxnLst/>
              <a:rect r="r" b="b" t="t" l="l"/>
              <a:pathLst>
                <a:path h="877821" w="1046479">
                  <a:moveTo>
                    <a:pt x="0" y="0"/>
                  </a:moveTo>
                  <a:lnTo>
                    <a:pt x="1046479" y="0"/>
                  </a:lnTo>
                  <a:lnTo>
                    <a:pt x="1046479" y="877821"/>
                  </a:lnTo>
                  <a:lnTo>
                    <a:pt x="0" y="877821"/>
                  </a:lnTo>
                  <a:close/>
                </a:path>
              </a:pathLst>
            </a:custGeom>
            <a:solidFill>
              <a:srgbClr val="A1D4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46479" cy="87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27701" y="6984566"/>
            <a:ext cx="3973352" cy="3332977"/>
            <a:chOff x="0" y="0"/>
            <a:chExt cx="1046479" cy="8778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6479" cy="877821"/>
            </a:xfrm>
            <a:custGeom>
              <a:avLst/>
              <a:gdLst/>
              <a:ahLst/>
              <a:cxnLst/>
              <a:rect r="r" b="b" t="t" l="l"/>
              <a:pathLst>
                <a:path h="877821" w="1046479">
                  <a:moveTo>
                    <a:pt x="0" y="0"/>
                  </a:moveTo>
                  <a:lnTo>
                    <a:pt x="1046479" y="0"/>
                  </a:lnTo>
                  <a:lnTo>
                    <a:pt x="1046479" y="877821"/>
                  </a:lnTo>
                  <a:lnTo>
                    <a:pt x="0" y="877821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046479" cy="87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2518851">
            <a:off x="13967140" y="6647514"/>
            <a:ext cx="3130625" cy="3492584"/>
          </a:xfrm>
          <a:custGeom>
            <a:avLst/>
            <a:gdLst/>
            <a:ahLst/>
            <a:cxnLst/>
            <a:rect r="r" b="b" t="t" l="l"/>
            <a:pathLst>
              <a:path h="3492584" w="3130625">
                <a:moveTo>
                  <a:pt x="0" y="0"/>
                </a:moveTo>
                <a:lnTo>
                  <a:pt x="3130625" y="0"/>
                </a:lnTo>
                <a:lnTo>
                  <a:pt x="3130625" y="3492584"/>
                </a:lnTo>
                <a:lnTo>
                  <a:pt x="0" y="349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56943" y="7099375"/>
            <a:ext cx="3768064" cy="3042273"/>
          </a:xfrm>
          <a:custGeom>
            <a:avLst/>
            <a:gdLst/>
            <a:ahLst/>
            <a:cxnLst/>
            <a:rect r="r" b="b" t="t" l="l"/>
            <a:pathLst>
              <a:path h="3042273" w="3768064">
                <a:moveTo>
                  <a:pt x="0" y="0"/>
                </a:moveTo>
                <a:lnTo>
                  <a:pt x="3768064" y="0"/>
                </a:lnTo>
                <a:lnTo>
                  <a:pt x="3768064" y="3042273"/>
                </a:lnTo>
                <a:lnTo>
                  <a:pt x="0" y="3042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50578" y="7150834"/>
            <a:ext cx="1817056" cy="2939355"/>
          </a:xfrm>
          <a:custGeom>
            <a:avLst/>
            <a:gdLst/>
            <a:ahLst/>
            <a:cxnLst/>
            <a:rect r="r" b="b" t="t" l="l"/>
            <a:pathLst>
              <a:path h="2939355" w="1817056">
                <a:moveTo>
                  <a:pt x="0" y="0"/>
                </a:moveTo>
                <a:lnTo>
                  <a:pt x="1817056" y="0"/>
                </a:lnTo>
                <a:lnTo>
                  <a:pt x="1817056" y="2939355"/>
                </a:lnTo>
                <a:lnTo>
                  <a:pt x="0" y="29393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8403" y="6954023"/>
            <a:ext cx="2136546" cy="3141980"/>
          </a:xfrm>
          <a:custGeom>
            <a:avLst/>
            <a:gdLst/>
            <a:ahLst/>
            <a:cxnLst/>
            <a:rect r="r" b="b" t="t" l="l"/>
            <a:pathLst>
              <a:path h="3141980" w="2136546">
                <a:moveTo>
                  <a:pt x="0" y="0"/>
                </a:moveTo>
                <a:lnTo>
                  <a:pt x="2136546" y="0"/>
                </a:lnTo>
                <a:lnTo>
                  <a:pt x="2136546" y="3141980"/>
                </a:lnTo>
                <a:lnTo>
                  <a:pt x="0" y="3141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2321318">
            <a:off x="-83416" y="-1610852"/>
            <a:ext cx="5501071" cy="5205389"/>
          </a:xfrm>
          <a:custGeom>
            <a:avLst/>
            <a:gdLst/>
            <a:ahLst/>
            <a:cxnLst/>
            <a:rect r="r" b="b" t="t" l="l"/>
            <a:pathLst>
              <a:path h="5205389" w="5501071">
                <a:moveTo>
                  <a:pt x="0" y="0"/>
                </a:moveTo>
                <a:lnTo>
                  <a:pt x="5501071" y="0"/>
                </a:lnTo>
                <a:lnTo>
                  <a:pt x="5501071" y="5205389"/>
                </a:lnTo>
                <a:lnTo>
                  <a:pt x="0" y="52053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2133357">
            <a:off x="12402236" y="-1831647"/>
            <a:ext cx="5678753" cy="5373520"/>
          </a:xfrm>
          <a:custGeom>
            <a:avLst/>
            <a:gdLst/>
            <a:ahLst/>
            <a:cxnLst/>
            <a:rect r="r" b="b" t="t" l="l"/>
            <a:pathLst>
              <a:path h="5373520" w="5678753">
                <a:moveTo>
                  <a:pt x="0" y="0"/>
                </a:moveTo>
                <a:lnTo>
                  <a:pt x="5678753" y="0"/>
                </a:lnTo>
                <a:lnTo>
                  <a:pt x="5678753" y="5373520"/>
                </a:lnTo>
                <a:lnTo>
                  <a:pt x="0" y="53735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247027">
            <a:off x="5967665" y="-1851196"/>
            <a:ext cx="5720072" cy="5412618"/>
          </a:xfrm>
          <a:custGeom>
            <a:avLst/>
            <a:gdLst/>
            <a:ahLst/>
            <a:cxnLst/>
            <a:rect r="r" b="b" t="t" l="l"/>
            <a:pathLst>
              <a:path h="5412618" w="5720072">
                <a:moveTo>
                  <a:pt x="0" y="0"/>
                </a:moveTo>
                <a:lnTo>
                  <a:pt x="5720072" y="0"/>
                </a:lnTo>
                <a:lnTo>
                  <a:pt x="5720072" y="5412618"/>
                </a:lnTo>
                <a:lnTo>
                  <a:pt x="0" y="5412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387907" y="2883172"/>
            <a:ext cx="7315200" cy="3165487"/>
          </a:xfrm>
          <a:custGeom>
            <a:avLst/>
            <a:gdLst/>
            <a:ahLst/>
            <a:cxnLst/>
            <a:rect r="r" b="b" t="t" l="l"/>
            <a:pathLst>
              <a:path h="3165487" w="7315200">
                <a:moveTo>
                  <a:pt x="0" y="0"/>
                </a:moveTo>
                <a:lnTo>
                  <a:pt x="7315200" y="0"/>
                </a:lnTo>
                <a:lnTo>
                  <a:pt x="7315200" y="3165486"/>
                </a:lnTo>
                <a:lnTo>
                  <a:pt x="0" y="31654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730307" y="2883172"/>
            <a:ext cx="7315200" cy="3165487"/>
          </a:xfrm>
          <a:custGeom>
            <a:avLst/>
            <a:gdLst/>
            <a:ahLst/>
            <a:cxnLst/>
            <a:rect r="r" b="b" t="t" l="l"/>
            <a:pathLst>
              <a:path h="3165487" w="7315200">
                <a:moveTo>
                  <a:pt x="0" y="0"/>
                </a:moveTo>
                <a:lnTo>
                  <a:pt x="7315200" y="0"/>
                </a:lnTo>
                <a:lnTo>
                  <a:pt x="7315200" y="3165486"/>
                </a:lnTo>
                <a:lnTo>
                  <a:pt x="0" y="31654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750286" y="5101944"/>
            <a:ext cx="6787428" cy="62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29406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Michael Mapongwana CHC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33750" y="2968969"/>
            <a:ext cx="11820500" cy="205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true">
                <a:solidFill>
                  <a:srgbClr val="29406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Clinical curiosity case report </a:t>
            </a:r>
          </a:p>
          <a:p>
            <a:pPr algn="ctr">
              <a:lnSpc>
                <a:spcPts val="8259"/>
              </a:lnSpc>
            </a:pPr>
            <a:r>
              <a:rPr lang="en-US" sz="5899" b="true">
                <a:solidFill>
                  <a:srgbClr val="29406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Group C6 &amp;D6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257772"/>
            <a:ext cx="18288000" cy="2029228"/>
          </a:xfrm>
          <a:custGeom>
            <a:avLst/>
            <a:gdLst/>
            <a:ahLst/>
            <a:cxnLst/>
            <a:rect r="r" b="b" t="t" l="l"/>
            <a:pathLst>
              <a:path h="2029228" w="18288000">
                <a:moveTo>
                  <a:pt x="0" y="0"/>
                </a:moveTo>
                <a:lnTo>
                  <a:pt x="18288000" y="0"/>
                </a:lnTo>
                <a:lnTo>
                  <a:pt x="18288000" y="2029228"/>
                </a:lnTo>
                <a:lnTo>
                  <a:pt x="0" y="2029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55" r="0" b="-733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396299"/>
            <a:ext cx="5478711" cy="8210603"/>
          </a:xfrm>
          <a:custGeom>
            <a:avLst/>
            <a:gdLst/>
            <a:ahLst/>
            <a:cxnLst/>
            <a:rect r="r" b="b" t="t" l="l"/>
            <a:pathLst>
              <a:path h="8210603" w="5478711">
                <a:moveTo>
                  <a:pt x="0" y="0"/>
                </a:moveTo>
                <a:lnTo>
                  <a:pt x="5478711" y="0"/>
                </a:lnTo>
                <a:lnTo>
                  <a:pt x="5478711" y="8210603"/>
                </a:lnTo>
                <a:lnTo>
                  <a:pt x="0" y="82106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941872" y="1396299"/>
            <a:ext cx="11896377" cy="7113794"/>
            <a:chOff x="0" y="0"/>
            <a:chExt cx="3133202" cy="1873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33202" cy="1873592"/>
            </a:xfrm>
            <a:custGeom>
              <a:avLst/>
              <a:gdLst/>
              <a:ahLst/>
              <a:cxnLst/>
              <a:rect r="r" b="b" t="t" l="l"/>
              <a:pathLst>
                <a:path h="1873592" w="3133202">
                  <a:moveTo>
                    <a:pt x="33190" y="0"/>
                  </a:moveTo>
                  <a:lnTo>
                    <a:pt x="3100013" y="0"/>
                  </a:lnTo>
                  <a:cubicBezTo>
                    <a:pt x="3108815" y="0"/>
                    <a:pt x="3117257" y="3497"/>
                    <a:pt x="3123481" y="9721"/>
                  </a:cubicBezTo>
                  <a:cubicBezTo>
                    <a:pt x="3129706" y="15945"/>
                    <a:pt x="3133202" y="24387"/>
                    <a:pt x="3133202" y="33190"/>
                  </a:cubicBezTo>
                  <a:lnTo>
                    <a:pt x="3133202" y="1840402"/>
                  </a:lnTo>
                  <a:cubicBezTo>
                    <a:pt x="3133202" y="1858732"/>
                    <a:pt x="3118343" y="1873592"/>
                    <a:pt x="3100013" y="1873592"/>
                  </a:cubicBezTo>
                  <a:lnTo>
                    <a:pt x="33190" y="1873592"/>
                  </a:lnTo>
                  <a:cubicBezTo>
                    <a:pt x="14860" y="1873592"/>
                    <a:pt x="0" y="1858732"/>
                    <a:pt x="0" y="1840402"/>
                  </a:cubicBezTo>
                  <a:lnTo>
                    <a:pt x="0" y="33190"/>
                  </a:lnTo>
                  <a:cubicBezTo>
                    <a:pt x="0" y="14860"/>
                    <a:pt x="14860" y="0"/>
                    <a:pt x="33190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528FC4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133202" cy="1873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07411" y="3966230"/>
            <a:ext cx="10227584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b="true" sz="5000">
                <a:solidFill>
                  <a:srgbClr val="004AAD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58</a:t>
            </a:r>
            <a:r>
              <a:rPr lang="en-US" sz="5000">
                <a:solidFill>
                  <a:srgbClr val="004AAD"/>
                </a:solidFill>
                <a:latin typeface="Roboto Slab"/>
                <a:ea typeface="Roboto Slab"/>
                <a:cs typeface="Roboto Slab"/>
                <a:sym typeface="Roboto Slab"/>
              </a:rPr>
              <a:t> year old </a:t>
            </a:r>
            <a:r>
              <a:rPr lang="en-US" b="true" sz="5000">
                <a:solidFill>
                  <a:srgbClr val="004AAD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female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4AAD"/>
                </a:solidFill>
                <a:latin typeface="Roboto Slab"/>
                <a:ea typeface="Roboto Slab"/>
                <a:cs typeface="Roboto Slab"/>
                <a:sym typeface="Roboto Slab"/>
              </a:rPr>
              <a:t>Lives in </a:t>
            </a:r>
            <a:r>
              <a:rPr lang="en-US" b="true" sz="5000">
                <a:solidFill>
                  <a:srgbClr val="004AAD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Harare</a:t>
            </a:r>
            <a:r>
              <a:rPr lang="en-US" sz="5000">
                <a:solidFill>
                  <a:srgbClr val="004AAD"/>
                </a:solidFill>
                <a:latin typeface="Roboto Slab"/>
                <a:ea typeface="Roboto Slab"/>
                <a:cs typeface="Roboto Slab"/>
                <a:sym typeface="Roboto Slab"/>
              </a:rPr>
              <a:t>, Khayelitsha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4AAD"/>
                </a:solidFill>
                <a:latin typeface="Roboto Slab"/>
                <a:ea typeface="Roboto Slab"/>
                <a:cs typeface="Roboto Slab"/>
                <a:sym typeface="Roboto Slab"/>
              </a:rPr>
              <a:t>Works as an assistant </a:t>
            </a:r>
            <a:r>
              <a:rPr lang="en-US" b="true" sz="5000">
                <a:solidFill>
                  <a:srgbClr val="004AAD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nurse</a:t>
            </a:r>
            <a:r>
              <a:rPr lang="en-US" sz="5000">
                <a:solidFill>
                  <a:srgbClr val="004AAD"/>
                </a:solidFill>
                <a:latin typeface="Roboto Slab"/>
                <a:ea typeface="Roboto Slab"/>
                <a:cs typeface="Roboto Slab"/>
                <a:sym typeface="Roboto Slab"/>
              </a:rPr>
              <a:t> at a </a:t>
            </a:r>
            <a:r>
              <a:rPr lang="en-US" b="true" sz="5000">
                <a:solidFill>
                  <a:srgbClr val="004AAD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TB clinic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777102" y="-1417663"/>
            <a:ext cx="4122295" cy="4114800"/>
          </a:xfrm>
          <a:custGeom>
            <a:avLst/>
            <a:gdLst/>
            <a:ahLst/>
            <a:cxnLst/>
            <a:rect r="r" b="b" t="t" l="l"/>
            <a:pathLst>
              <a:path h="4114800" w="4122295">
                <a:moveTo>
                  <a:pt x="0" y="0"/>
                </a:moveTo>
                <a:lnTo>
                  <a:pt x="4122295" y="0"/>
                </a:lnTo>
                <a:lnTo>
                  <a:pt x="4122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00622" y="1907195"/>
            <a:ext cx="8865055" cy="141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9"/>
              </a:lnSpc>
            </a:pPr>
            <a:r>
              <a:rPr lang="en-US" sz="8299" b="true">
                <a:solidFill>
                  <a:srgbClr val="004AAD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Meet Anna: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68403"/>
            <a:ext cx="18288000" cy="1921168"/>
            <a:chOff x="0" y="0"/>
            <a:chExt cx="4816593" cy="5059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05987"/>
            </a:xfrm>
            <a:custGeom>
              <a:avLst/>
              <a:gdLst/>
              <a:ahLst/>
              <a:cxnLst/>
              <a:rect r="r" b="b" t="t" l="l"/>
              <a:pathLst>
                <a:path h="505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05987"/>
                  </a:lnTo>
                  <a:lnTo>
                    <a:pt x="0" y="505987"/>
                  </a:lnTo>
                  <a:close/>
                </a:path>
              </a:pathLst>
            </a:custGeom>
            <a:solidFill>
              <a:srgbClr val="A1D4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505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98345" y="342833"/>
            <a:ext cx="20820842" cy="2016412"/>
            <a:chOff x="0" y="0"/>
            <a:chExt cx="5483679" cy="531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3679" cy="531071"/>
            </a:xfrm>
            <a:custGeom>
              <a:avLst/>
              <a:gdLst/>
              <a:ahLst/>
              <a:cxnLst/>
              <a:rect r="r" b="b" t="t" l="l"/>
              <a:pathLst>
                <a:path h="531071" w="5483679">
                  <a:moveTo>
                    <a:pt x="0" y="0"/>
                  </a:moveTo>
                  <a:lnTo>
                    <a:pt x="5483679" y="0"/>
                  </a:lnTo>
                  <a:lnTo>
                    <a:pt x="5483679" y="531071"/>
                  </a:lnTo>
                  <a:lnTo>
                    <a:pt x="0" y="531071"/>
                  </a:lnTo>
                  <a:close/>
                </a:path>
              </a:pathLst>
            </a:custGeom>
            <a:solidFill>
              <a:srgbClr val="FD949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483679" cy="531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705390" y="2921220"/>
          <a:ext cx="12877220" cy="5771603"/>
        </p:xfrm>
        <a:graphic>
          <a:graphicData uri="http://schemas.openxmlformats.org/drawingml/2006/table">
            <a:tbl>
              <a:tblPr/>
              <a:tblGrid>
                <a:gridCol w="6451849"/>
                <a:gridCol w="6425371"/>
              </a:tblGrid>
              <a:tr h="10859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294069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PRODUCTIVE COUGH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B75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294069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HEADACHE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B756"/>
                    </a:solidFill>
                  </a:tcPr>
                </a:tc>
              </a:tr>
              <a:tr h="46856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4059"/>
                        </a:lnSpc>
                      </a:pPr>
                      <a:r>
                        <a:rPr lang="en-US" sz="2899" b="true">
                          <a:solidFill>
                            <a:srgbClr val="3D5599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7 day history</a:t>
                      </a:r>
                    </a:p>
                    <a:p>
                      <a:pPr algn="l">
                        <a:lnSpc>
                          <a:spcPts val="4059"/>
                        </a:lnSpc>
                      </a:pPr>
                      <a:r>
                        <a:rPr lang="en-US" sz="2899" b="true">
                          <a:solidFill>
                            <a:srgbClr val="3D5599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brown green purulent sputum</a:t>
                      </a:r>
                    </a:p>
                    <a:p>
                      <a:pPr algn="l">
                        <a:lnSpc>
                          <a:spcPts val="4059"/>
                        </a:lnSpc>
                      </a:pPr>
                      <a:r>
                        <a:rPr lang="en-US" sz="2899" b="true">
                          <a:solidFill>
                            <a:srgbClr val="3D5599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worsens in morning</a:t>
                      </a:r>
                    </a:p>
                    <a:p>
                      <a:pPr algn="l">
                        <a:lnSpc>
                          <a:spcPts val="4059"/>
                        </a:lnSpc>
                      </a:pPr>
                      <a:r>
                        <a:rPr lang="en-US" sz="2899" b="true">
                          <a:solidFill>
                            <a:srgbClr val="3D5599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improves with rest</a:t>
                      </a:r>
                    </a:p>
                    <a:p>
                      <a:pPr algn="l">
                        <a:lnSpc>
                          <a:spcPts val="4059"/>
                        </a:lnSpc>
                      </a:pPr>
                      <a:r>
                        <a:rPr lang="en-US" sz="2899" b="true">
                          <a:solidFill>
                            <a:srgbClr val="3D5599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pleuritic chest pain</a:t>
                      </a:r>
                    </a:p>
                    <a:p>
                      <a:pPr algn="l">
                        <a:lnSpc>
                          <a:spcPts val="40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05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3C53AC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over frontal region</a:t>
                      </a:r>
                      <a:endParaRPr lang="en-US" sz="1100"/>
                    </a:p>
                    <a:p>
                      <a:pPr algn="just">
                        <a:lnSpc>
                          <a:spcPts val="4059"/>
                        </a:lnSpc>
                      </a:pPr>
                      <a:r>
                        <a:rPr lang="en-US" sz="2899" b="true">
                          <a:solidFill>
                            <a:srgbClr val="3C53AC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radiating to eyes</a:t>
                      </a:r>
                    </a:p>
                    <a:p>
                      <a:pPr algn="just">
                        <a:lnSpc>
                          <a:spcPts val="4059"/>
                        </a:lnSpc>
                      </a:pPr>
                      <a:r>
                        <a:rPr lang="en-US" sz="2899" b="true">
                          <a:solidFill>
                            <a:srgbClr val="3C53AC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worse in afternoon</a:t>
                      </a:r>
                    </a:p>
                    <a:p>
                      <a:pPr algn="just">
                        <a:lnSpc>
                          <a:spcPts val="4059"/>
                        </a:lnSpc>
                      </a:pPr>
                      <a:r>
                        <a:rPr lang="en-US" sz="2899" b="true">
                          <a:solidFill>
                            <a:srgbClr val="3C53AC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worse in bending down</a:t>
                      </a:r>
                    </a:p>
                    <a:p>
                      <a:pPr algn="just">
                        <a:lnSpc>
                          <a:spcPts val="4059"/>
                        </a:lnSpc>
                      </a:pPr>
                      <a:r>
                        <a:rPr lang="en-US" sz="2899" b="true">
                          <a:solidFill>
                            <a:srgbClr val="3C53AC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affects daily functioning</a:t>
                      </a:r>
                    </a:p>
                  </a:txBody>
                  <a:tcPr marL="190500" marR="190500" marT="190500" marB="190500" anchor="ctr">
                    <a:lnL cmpd="sng" algn="ctr" cap="flat" w="476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DC"/>
                    </a:solidFill>
                  </a:tcPr>
                </a:tc>
              </a:tr>
            </a:tbl>
          </a:graphicData>
        </a:graphic>
      </p:graphicFrame>
      <p:sp>
        <p:nvSpPr>
          <p:cNvPr name="Freeform 9" id="9"/>
          <p:cNvSpPr/>
          <p:nvPr/>
        </p:nvSpPr>
        <p:spPr>
          <a:xfrm flipH="false" flipV="false" rot="-834155">
            <a:off x="1476101" y="2624306"/>
            <a:ext cx="1652867" cy="2355121"/>
          </a:xfrm>
          <a:custGeom>
            <a:avLst/>
            <a:gdLst/>
            <a:ahLst/>
            <a:cxnLst/>
            <a:rect r="r" b="b" t="t" l="l"/>
            <a:pathLst>
              <a:path h="2355121" w="1652867">
                <a:moveTo>
                  <a:pt x="0" y="0"/>
                </a:moveTo>
                <a:lnTo>
                  <a:pt x="1652867" y="0"/>
                </a:lnTo>
                <a:lnTo>
                  <a:pt x="1652867" y="2355121"/>
                </a:lnTo>
                <a:lnTo>
                  <a:pt x="0" y="2355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528459">
            <a:off x="4577141" y="456400"/>
            <a:ext cx="889456" cy="1598695"/>
          </a:xfrm>
          <a:custGeom>
            <a:avLst/>
            <a:gdLst/>
            <a:ahLst/>
            <a:cxnLst/>
            <a:rect r="r" b="b" t="t" l="l"/>
            <a:pathLst>
              <a:path h="1598695" w="889456">
                <a:moveTo>
                  <a:pt x="0" y="0"/>
                </a:moveTo>
                <a:lnTo>
                  <a:pt x="889456" y="0"/>
                </a:lnTo>
                <a:lnTo>
                  <a:pt x="889456" y="1598695"/>
                </a:lnTo>
                <a:lnTo>
                  <a:pt x="0" y="15986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-5823371"/>
            <a:ext cx="18288000" cy="6291342"/>
            <a:chOff x="0" y="0"/>
            <a:chExt cx="4816593" cy="16569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1656979"/>
            </a:xfrm>
            <a:custGeom>
              <a:avLst/>
              <a:gdLst/>
              <a:ahLst/>
              <a:cxnLst/>
              <a:rect r="r" b="b" t="t" l="l"/>
              <a:pathLst>
                <a:path h="16569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56979"/>
                  </a:lnTo>
                  <a:lnTo>
                    <a:pt x="0" y="1656979"/>
                  </a:lnTo>
                  <a:close/>
                </a:path>
              </a:pathLst>
            </a:custGeom>
            <a:solidFill>
              <a:srgbClr val="A1D4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816593" cy="1656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486400" y="1028700"/>
            <a:ext cx="7388695" cy="832907"/>
          </a:xfrm>
          <a:custGeom>
            <a:avLst/>
            <a:gdLst/>
            <a:ahLst/>
            <a:cxnLst/>
            <a:rect r="r" b="b" t="t" l="l"/>
            <a:pathLst>
              <a:path h="832907" w="7388695">
                <a:moveTo>
                  <a:pt x="0" y="0"/>
                </a:moveTo>
                <a:lnTo>
                  <a:pt x="7388695" y="0"/>
                </a:lnTo>
                <a:lnTo>
                  <a:pt x="7388695" y="832907"/>
                </a:lnTo>
                <a:lnTo>
                  <a:pt x="0" y="832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746748" y="5807022"/>
            <a:ext cx="3541252" cy="7213661"/>
          </a:xfrm>
          <a:custGeom>
            <a:avLst/>
            <a:gdLst/>
            <a:ahLst/>
            <a:cxnLst/>
            <a:rect r="r" b="b" t="t" l="l"/>
            <a:pathLst>
              <a:path h="7213661" w="3541252">
                <a:moveTo>
                  <a:pt x="0" y="0"/>
                </a:moveTo>
                <a:lnTo>
                  <a:pt x="3541252" y="0"/>
                </a:lnTo>
                <a:lnTo>
                  <a:pt x="3541252" y="7213661"/>
                </a:lnTo>
                <a:lnTo>
                  <a:pt x="0" y="72136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7823928"/>
            <a:ext cx="2153838" cy="1589924"/>
          </a:xfrm>
          <a:custGeom>
            <a:avLst/>
            <a:gdLst/>
            <a:ahLst/>
            <a:cxnLst/>
            <a:rect r="r" b="b" t="t" l="l"/>
            <a:pathLst>
              <a:path h="1589924" w="2153838">
                <a:moveTo>
                  <a:pt x="0" y="0"/>
                </a:moveTo>
                <a:lnTo>
                  <a:pt x="2153838" y="0"/>
                </a:lnTo>
                <a:lnTo>
                  <a:pt x="2153838" y="1589924"/>
                </a:lnTo>
                <a:lnTo>
                  <a:pt x="0" y="15899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767164" y="933450"/>
            <a:ext cx="67536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6F1E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Presenting complaint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99079" y="2891891"/>
          <a:ext cx="11604891" cy="4505982"/>
        </p:xfrm>
        <a:graphic>
          <a:graphicData uri="http://schemas.openxmlformats.org/drawingml/2006/table">
            <a:tbl>
              <a:tblPr/>
              <a:tblGrid>
                <a:gridCol w="11604891"/>
              </a:tblGrid>
              <a:tr h="11561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294069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OTHER SYMPTOMS: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B756"/>
                    </a:solidFill>
                  </a:tcPr>
                </a:tc>
              </a:tr>
              <a:tr h="3349839">
                <a:tc>
                  <a:txBody>
                    <a:bodyPr anchor="t" rtlCol="false"/>
                    <a:lstStyle/>
                    <a:p>
                      <a:pPr algn="l" marL="777238" indent="-388619" lvl="1">
                        <a:lnSpc>
                          <a:spcPts val="50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35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hot flushes during day and night</a:t>
                      </a:r>
                      <a:endParaRPr lang="en-US" sz="1100"/>
                    </a:p>
                    <a:p>
                      <a:pPr algn="l" marL="777238" indent="-388619" lvl="1">
                        <a:lnSpc>
                          <a:spcPts val="5039"/>
                        </a:lnSpc>
                        <a:buFont typeface="Arial"/>
                        <a:buChar char="•"/>
                      </a:pPr>
                      <a:r>
                        <a:rPr lang="en-US" b="true" sz="35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mild back pain at onset of cough</a:t>
                      </a:r>
                    </a:p>
                    <a:p>
                      <a:pPr algn="l" marL="777238" indent="-388619" lvl="1">
                        <a:lnSpc>
                          <a:spcPts val="5039"/>
                        </a:lnSpc>
                        <a:buFont typeface="Arial"/>
                        <a:buChar char="•"/>
                      </a:pPr>
                      <a:r>
                        <a:rPr lang="en-US" b="true" sz="35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slight loss of weight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DC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285750" y="0"/>
            <a:ext cx="5786964" cy="10289765"/>
          </a:xfrm>
          <a:custGeom>
            <a:avLst/>
            <a:gdLst/>
            <a:ahLst/>
            <a:cxnLst/>
            <a:rect r="r" b="b" t="t" l="l"/>
            <a:pathLst>
              <a:path h="10289765" w="5786964">
                <a:moveTo>
                  <a:pt x="0" y="0"/>
                </a:moveTo>
                <a:lnTo>
                  <a:pt x="5786964" y="0"/>
                </a:lnTo>
                <a:lnTo>
                  <a:pt x="5786964" y="10289765"/>
                </a:lnTo>
                <a:lnTo>
                  <a:pt x="0" y="10289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03">
            <a:off x="10996441" y="5009026"/>
            <a:ext cx="8314362" cy="6713847"/>
          </a:xfrm>
          <a:custGeom>
            <a:avLst/>
            <a:gdLst/>
            <a:ahLst/>
            <a:cxnLst/>
            <a:rect r="r" b="b" t="t" l="l"/>
            <a:pathLst>
              <a:path h="6713847" w="8314362">
                <a:moveTo>
                  <a:pt x="0" y="0"/>
                </a:moveTo>
                <a:lnTo>
                  <a:pt x="8314362" y="0"/>
                </a:lnTo>
                <a:lnTo>
                  <a:pt x="8314362" y="6713847"/>
                </a:lnTo>
                <a:lnTo>
                  <a:pt x="0" y="6713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354106">
            <a:off x="13542537" y="6548319"/>
            <a:ext cx="8314362" cy="6713847"/>
          </a:xfrm>
          <a:custGeom>
            <a:avLst/>
            <a:gdLst/>
            <a:ahLst/>
            <a:cxnLst/>
            <a:rect r="r" b="b" t="t" l="l"/>
            <a:pathLst>
              <a:path h="6713847" w="8314362">
                <a:moveTo>
                  <a:pt x="0" y="0"/>
                </a:moveTo>
                <a:lnTo>
                  <a:pt x="8314362" y="0"/>
                </a:lnTo>
                <a:lnTo>
                  <a:pt x="8314362" y="6713848"/>
                </a:lnTo>
                <a:lnTo>
                  <a:pt x="0" y="6713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F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52873" y="1391324"/>
          <a:ext cx="17582255" cy="7504351"/>
        </p:xfrm>
        <a:graphic>
          <a:graphicData uri="http://schemas.openxmlformats.org/drawingml/2006/table">
            <a:tbl>
              <a:tblPr/>
              <a:tblGrid>
                <a:gridCol w="3752402"/>
                <a:gridCol w="13829853"/>
              </a:tblGrid>
              <a:tr h="13420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880"/>
                        </a:lnSpc>
                        <a:defRPr/>
                      </a:pPr>
                      <a:r>
                        <a:rPr lang="en-US" sz="4200">
                          <a:solidFill>
                            <a:srgbClr val="FFFFFF"/>
                          </a:solidFill>
                          <a:latin typeface="Berthold Block"/>
                          <a:ea typeface="Berthold Block"/>
                          <a:cs typeface="Berthold Block"/>
                          <a:sym typeface="Berthold Block"/>
                        </a:rPr>
                        <a:t>L (limitations)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9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walking slower: house chores and walking to work affected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27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880"/>
                        </a:lnSpc>
                        <a:defRPr/>
                      </a:pPr>
                      <a:r>
                        <a:rPr lang="en-US" sz="4200">
                          <a:solidFill>
                            <a:srgbClr val="FFFFFF"/>
                          </a:solidFill>
                          <a:latin typeface="Berthold Block"/>
                          <a:ea typeface="Berthold Block"/>
                          <a:cs typeface="Berthold Block"/>
                          <a:sym typeface="Berthold Block"/>
                        </a:rPr>
                        <a:t>I (ideas)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914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690881" indent="-345440" lvl="1">
                        <a:lnSpc>
                          <a:spcPts val="44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Thinks cough is due to TB</a:t>
                      </a:r>
                      <a:endParaRPr lang="en-US" sz="1100"/>
                    </a:p>
                    <a:p>
                      <a:pPr algn="l" marL="690881" indent="-345440" lvl="1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Thinks headache is due to fall from last year</a:t>
                      </a:r>
                    </a:p>
                    <a:p>
                      <a:pPr algn="l" marL="690881" indent="-345440" lvl="1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Thinks hot flushes due to menopause</a:t>
                      </a:r>
                    </a:p>
                    <a:p>
                      <a:pPr algn="l">
                        <a:lnSpc>
                          <a:spcPts val="448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67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880"/>
                        </a:lnSpc>
                        <a:defRPr/>
                      </a:pPr>
                      <a:r>
                        <a:rPr lang="en-US" sz="4200">
                          <a:solidFill>
                            <a:srgbClr val="FFFFFF"/>
                          </a:solidFill>
                          <a:latin typeface="Berthold Block"/>
                          <a:ea typeface="Berthold Block"/>
                          <a:cs typeface="Berthold Block"/>
                          <a:sym typeface="Berthold Block"/>
                        </a:rPr>
                        <a:t>F (fears)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F8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No fears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427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880"/>
                        </a:lnSpc>
                        <a:defRPr/>
                      </a:pPr>
                      <a:r>
                        <a:rPr lang="en-US" sz="4200">
                          <a:solidFill>
                            <a:srgbClr val="FFFFFF"/>
                          </a:solidFill>
                          <a:latin typeface="Berthold Block"/>
                          <a:ea typeface="Berthold Block"/>
                          <a:cs typeface="Berthold Block"/>
                          <a:sym typeface="Berthold Block"/>
                        </a:rPr>
                        <a:t>E (expectations)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A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Expects further special investigation like X-ray.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-4231877" y="-9906623"/>
            <a:ext cx="24448894" cy="10935323"/>
          </a:xfrm>
          <a:custGeom>
            <a:avLst/>
            <a:gdLst/>
            <a:ahLst/>
            <a:cxnLst/>
            <a:rect r="r" b="b" t="t" l="l"/>
            <a:pathLst>
              <a:path h="10935323" w="24448894">
                <a:moveTo>
                  <a:pt x="0" y="0"/>
                </a:moveTo>
                <a:lnTo>
                  <a:pt x="24448894" y="0"/>
                </a:lnTo>
                <a:lnTo>
                  <a:pt x="24448894" y="10935323"/>
                </a:lnTo>
                <a:lnTo>
                  <a:pt x="0" y="10935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49987" y="9258300"/>
            <a:ext cx="22167004" cy="9914696"/>
          </a:xfrm>
          <a:custGeom>
            <a:avLst/>
            <a:gdLst/>
            <a:ahLst/>
            <a:cxnLst/>
            <a:rect r="r" b="b" t="t" l="l"/>
            <a:pathLst>
              <a:path h="9914696" w="22167004">
                <a:moveTo>
                  <a:pt x="0" y="0"/>
                </a:moveTo>
                <a:lnTo>
                  <a:pt x="22167004" y="0"/>
                </a:lnTo>
                <a:lnTo>
                  <a:pt x="22167004" y="9914696"/>
                </a:lnTo>
                <a:lnTo>
                  <a:pt x="0" y="9914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69949" y="7127122"/>
            <a:ext cx="3052095" cy="2859813"/>
          </a:xfrm>
          <a:custGeom>
            <a:avLst/>
            <a:gdLst/>
            <a:ahLst/>
            <a:cxnLst/>
            <a:rect r="r" b="b" t="t" l="l"/>
            <a:pathLst>
              <a:path h="2859813" w="3052095">
                <a:moveTo>
                  <a:pt x="0" y="0"/>
                </a:moveTo>
                <a:lnTo>
                  <a:pt x="3052095" y="0"/>
                </a:lnTo>
                <a:lnTo>
                  <a:pt x="3052095" y="2859813"/>
                </a:lnTo>
                <a:lnTo>
                  <a:pt x="0" y="2859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49653" y="236181"/>
            <a:ext cx="7388695" cy="832907"/>
          </a:xfrm>
          <a:custGeom>
            <a:avLst/>
            <a:gdLst/>
            <a:ahLst/>
            <a:cxnLst/>
            <a:rect r="r" b="b" t="t" l="l"/>
            <a:pathLst>
              <a:path h="832907" w="7388695">
                <a:moveTo>
                  <a:pt x="0" y="0"/>
                </a:moveTo>
                <a:lnTo>
                  <a:pt x="7388694" y="0"/>
                </a:lnTo>
                <a:lnTo>
                  <a:pt x="7388694" y="832907"/>
                </a:lnTo>
                <a:lnTo>
                  <a:pt x="0" y="832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06455" y="140931"/>
            <a:ext cx="66750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Patient’s perspective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83904">
            <a:off x="13051277" y="5159391"/>
            <a:ext cx="7265862" cy="6941718"/>
          </a:xfrm>
          <a:custGeom>
            <a:avLst/>
            <a:gdLst/>
            <a:ahLst/>
            <a:cxnLst/>
            <a:rect r="r" b="b" t="t" l="l"/>
            <a:pathLst>
              <a:path h="6941718" w="7265862">
                <a:moveTo>
                  <a:pt x="0" y="0"/>
                </a:moveTo>
                <a:lnTo>
                  <a:pt x="7265863" y="0"/>
                </a:lnTo>
                <a:lnTo>
                  <a:pt x="7265863" y="6941719"/>
                </a:lnTo>
                <a:lnTo>
                  <a:pt x="0" y="6941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068" t="-13044" r="-706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709205">
            <a:off x="-4030195" y="-1000419"/>
            <a:ext cx="9119212" cy="8629055"/>
          </a:xfrm>
          <a:custGeom>
            <a:avLst/>
            <a:gdLst/>
            <a:ahLst/>
            <a:cxnLst/>
            <a:rect r="r" b="b" t="t" l="l"/>
            <a:pathLst>
              <a:path h="8629055" w="9119212">
                <a:moveTo>
                  <a:pt x="0" y="0"/>
                </a:moveTo>
                <a:lnTo>
                  <a:pt x="9119212" y="0"/>
                </a:lnTo>
                <a:lnTo>
                  <a:pt x="9119212" y="8629054"/>
                </a:lnTo>
                <a:lnTo>
                  <a:pt x="0" y="8629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46798" y="5606314"/>
            <a:ext cx="9193045" cy="1159249"/>
          </a:xfrm>
          <a:custGeom>
            <a:avLst/>
            <a:gdLst/>
            <a:ahLst/>
            <a:cxnLst/>
            <a:rect r="r" b="b" t="t" l="l"/>
            <a:pathLst>
              <a:path h="1159249" w="9193045">
                <a:moveTo>
                  <a:pt x="0" y="0"/>
                </a:moveTo>
                <a:lnTo>
                  <a:pt x="9193045" y="0"/>
                </a:lnTo>
                <a:lnTo>
                  <a:pt x="9193045" y="1159249"/>
                </a:lnTo>
                <a:lnTo>
                  <a:pt x="0" y="115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2160" r="0" b="-1021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08857" y="6939358"/>
            <a:ext cx="3775886" cy="3391432"/>
          </a:xfrm>
          <a:custGeom>
            <a:avLst/>
            <a:gdLst/>
            <a:ahLst/>
            <a:cxnLst/>
            <a:rect r="r" b="b" t="t" l="l"/>
            <a:pathLst>
              <a:path h="3391432" w="3775886">
                <a:moveTo>
                  <a:pt x="0" y="0"/>
                </a:moveTo>
                <a:lnTo>
                  <a:pt x="3775885" y="0"/>
                </a:lnTo>
                <a:lnTo>
                  <a:pt x="3775885" y="3391432"/>
                </a:lnTo>
                <a:lnTo>
                  <a:pt x="0" y="33914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40833" y="7656130"/>
            <a:ext cx="2339813" cy="2773485"/>
          </a:xfrm>
          <a:custGeom>
            <a:avLst/>
            <a:gdLst/>
            <a:ahLst/>
            <a:cxnLst/>
            <a:rect r="r" b="b" t="t" l="l"/>
            <a:pathLst>
              <a:path h="2773485" w="2339813">
                <a:moveTo>
                  <a:pt x="0" y="0"/>
                </a:moveTo>
                <a:lnTo>
                  <a:pt x="2339813" y="0"/>
                </a:lnTo>
                <a:lnTo>
                  <a:pt x="2339813" y="2773485"/>
                </a:lnTo>
                <a:lnTo>
                  <a:pt x="0" y="277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852425"/>
            <a:ext cx="9002145" cy="3187300"/>
          </a:xfrm>
          <a:custGeom>
            <a:avLst/>
            <a:gdLst/>
            <a:ahLst/>
            <a:cxnLst/>
            <a:rect r="r" b="b" t="t" l="l"/>
            <a:pathLst>
              <a:path h="3187300" w="9002145">
                <a:moveTo>
                  <a:pt x="0" y="0"/>
                </a:moveTo>
                <a:lnTo>
                  <a:pt x="9002145" y="0"/>
                </a:lnTo>
                <a:lnTo>
                  <a:pt x="9002145" y="3187300"/>
                </a:lnTo>
                <a:lnTo>
                  <a:pt x="0" y="31873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6000"/>
            </a:blip>
            <a:stretch>
              <a:fillRect l="-24216" t="0" r="-45013" b="-634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70558" y="5656984"/>
            <a:ext cx="894552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Social History: Finances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2280" y="7156088"/>
            <a:ext cx="9276577" cy="264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Specifically concerned about her water bill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Does not own a fridge so her diet consists of mainly bread and chips 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3494700" y="1028700"/>
            <a:ext cx="1488009" cy="4114800"/>
          </a:xfrm>
          <a:custGeom>
            <a:avLst/>
            <a:gdLst/>
            <a:ahLst/>
            <a:cxnLst/>
            <a:rect r="r" b="b" t="t" l="l"/>
            <a:pathLst>
              <a:path h="4114800" w="1488009">
                <a:moveTo>
                  <a:pt x="1488009" y="0"/>
                </a:moveTo>
                <a:lnTo>
                  <a:pt x="0" y="0"/>
                </a:lnTo>
                <a:lnTo>
                  <a:pt x="0" y="4114800"/>
                </a:lnTo>
                <a:lnTo>
                  <a:pt x="1488009" y="4114800"/>
                </a:lnTo>
                <a:lnTo>
                  <a:pt x="1488009" y="0"/>
                </a:lnTo>
                <a:close/>
              </a:path>
            </a:pathLst>
          </a:custGeom>
          <a:blipFill>
            <a:blip r:embed="rId9">
              <a:alphaModFix amt="64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65859" y="1299702"/>
            <a:ext cx="12106146" cy="4306612"/>
          </a:xfrm>
          <a:custGeom>
            <a:avLst/>
            <a:gdLst/>
            <a:ahLst/>
            <a:cxnLst/>
            <a:rect r="r" b="b" t="t" l="l"/>
            <a:pathLst>
              <a:path h="4306612" w="12106146">
                <a:moveTo>
                  <a:pt x="0" y="0"/>
                </a:moveTo>
                <a:lnTo>
                  <a:pt x="12106146" y="0"/>
                </a:lnTo>
                <a:lnTo>
                  <a:pt x="12106146" y="4306612"/>
                </a:lnTo>
                <a:lnTo>
                  <a:pt x="0" y="43066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6000"/>
            </a:blip>
            <a:stretch>
              <a:fillRect l="-69083" t="-15428" r="-1546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454647" y="1383666"/>
            <a:ext cx="13855066" cy="334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Arthritis in right knee (dx for 5 years)</a:t>
            </a:r>
          </a:p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 natural delivery, 2 C-sections</a:t>
            </a:r>
          </a:p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Previous ICD</a:t>
            </a:r>
          </a:p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Penicillin Allergy</a:t>
            </a:r>
          </a:p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Started using eye drops when her headache radiates </a:t>
            </a:r>
          </a:p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Has taken ½ a Grandpa a day for the past week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451876">
            <a:off x="15414254" y="721821"/>
            <a:ext cx="2539908" cy="2559101"/>
          </a:xfrm>
          <a:custGeom>
            <a:avLst/>
            <a:gdLst/>
            <a:ahLst/>
            <a:cxnLst/>
            <a:rect r="r" b="b" t="t" l="l"/>
            <a:pathLst>
              <a:path h="2559101" w="2539908">
                <a:moveTo>
                  <a:pt x="0" y="0"/>
                </a:moveTo>
                <a:lnTo>
                  <a:pt x="2539908" y="0"/>
                </a:lnTo>
                <a:lnTo>
                  <a:pt x="2539908" y="2559101"/>
                </a:lnTo>
                <a:lnTo>
                  <a:pt x="0" y="25591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09219" y="117301"/>
            <a:ext cx="9405036" cy="1087151"/>
          </a:xfrm>
          <a:custGeom>
            <a:avLst/>
            <a:gdLst/>
            <a:ahLst/>
            <a:cxnLst/>
            <a:rect r="r" b="b" t="t" l="l"/>
            <a:pathLst>
              <a:path h="1087151" w="9405036">
                <a:moveTo>
                  <a:pt x="0" y="0"/>
                </a:moveTo>
                <a:lnTo>
                  <a:pt x="9405035" y="0"/>
                </a:lnTo>
                <a:lnTo>
                  <a:pt x="9405035" y="1087151"/>
                </a:lnTo>
                <a:lnTo>
                  <a:pt x="0" y="1087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5992" r="0" b="-11599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96629" y="98251"/>
            <a:ext cx="1017165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Medical + Surgical history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555" y="707777"/>
            <a:ext cx="17742891" cy="8871445"/>
          </a:xfrm>
          <a:custGeom>
            <a:avLst/>
            <a:gdLst/>
            <a:ahLst/>
            <a:cxnLst/>
            <a:rect r="r" b="b" t="t" l="l"/>
            <a:pathLst>
              <a:path h="8871445" w="17742891">
                <a:moveTo>
                  <a:pt x="0" y="0"/>
                </a:moveTo>
                <a:lnTo>
                  <a:pt x="17742890" y="0"/>
                </a:lnTo>
                <a:lnTo>
                  <a:pt x="17742890" y="8871446"/>
                </a:lnTo>
                <a:lnTo>
                  <a:pt x="0" y="887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56267" y="1306908"/>
            <a:ext cx="2698482" cy="1859499"/>
          </a:xfrm>
          <a:custGeom>
            <a:avLst/>
            <a:gdLst/>
            <a:ahLst/>
            <a:cxnLst/>
            <a:rect r="r" b="b" t="t" l="l"/>
            <a:pathLst>
              <a:path h="1859499" w="2698482">
                <a:moveTo>
                  <a:pt x="0" y="0"/>
                </a:moveTo>
                <a:lnTo>
                  <a:pt x="2698481" y="0"/>
                </a:lnTo>
                <a:lnTo>
                  <a:pt x="2698481" y="1859499"/>
                </a:lnTo>
                <a:lnTo>
                  <a:pt x="0" y="1859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0671" y="147659"/>
            <a:ext cx="11163329" cy="1159249"/>
          </a:xfrm>
          <a:custGeom>
            <a:avLst/>
            <a:gdLst/>
            <a:ahLst/>
            <a:cxnLst/>
            <a:rect r="r" b="b" t="t" l="l"/>
            <a:pathLst>
              <a:path h="1159249" w="11163329">
                <a:moveTo>
                  <a:pt x="0" y="0"/>
                </a:moveTo>
                <a:lnTo>
                  <a:pt x="11163329" y="0"/>
                </a:lnTo>
                <a:lnTo>
                  <a:pt x="11163329" y="1159249"/>
                </a:lnTo>
                <a:lnTo>
                  <a:pt x="0" y="1159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4771" r="0" b="-13477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49337" y="6083956"/>
            <a:ext cx="8806930" cy="3345821"/>
            <a:chOff x="0" y="0"/>
            <a:chExt cx="2319521" cy="8812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9521" cy="881204"/>
            </a:xfrm>
            <a:custGeom>
              <a:avLst/>
              <a:gdLst/>
              <a:ahLst/>
              <a:cxnLst/>
              <a:rect r="r" b="b" t="t" l="l"/>
              <a:pathLst>
                <a:path h="881204" w="2319521">
                  <a:moveTo>
                    <a:pt x="44833" y="0"/>
                  </a:moveTo>
                  <a:lnTo>
                    <a:pt x="2274688" y="0"/>
                  </a:lnTo>
                  <a:cubicBezTo>
                    <a:pt x="2286578" y="0"/>
                    <a:pt x="2297982" y="4723"/>
                    <a:pt x="2306389" y="13131"/>
                  </a:cubicBezTo>
                  <a:cubicBezTo>
                    <a:pt x="2314797" y="21539"/>
                    <a:pt x="2319521" y="32942"/>
                    <a:pt x="2319521" y="44833"/>
                  </a:cubicBezTo>
                  <a:lnTo>
                    <a:pt x="2319521" y="836371"/>
                  </a:lnTo>
                  <a:cubicBezTo>
                    <a:pt x="2319521" y="861132"/>
                    <a:pt x="2299448" y="881204"/>
                    <a:pt x="2274688" y="881204"/>
                  </a:cubicBezTo>
                  <a:lnTo>
                    <a:pt x="44833" y="881204"/>
                  </a:lnTo>
                  <a:cubicBezTo>
                    <a:pt x="20072" y="881204"/>
                    <a:pt x="0" y="861132"/>
                    <a:pt x="0" y="836371"/>
                  </a:cubicBezTo>
                  <a:lnTo>
                    <a:pt x="0" y="44833"/>
                  </a:lnTo>
                  <a:cubicBezTo>
                    <a:pt x="0" y="20072"/>
                    <a:pt x="20072" y="0"/>
                    <a:pt x="448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19521" cy="881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3297803" y="3451540"/>
            <a:ext cx="4088836" cy="6127683"/>
          </a:xfrm>
          <a:custGeom>
            <a:avLst/>
            <a:gdLst/>
            <a:ahLst/>
            <a:cxnLst/>
            <a:rect r="r" b="b" t="t" l="l"/>
            <a:pathLst>
              <a:path h="6127683" w="4088836">
                <a:moveTo>
                  <a:pt x="4088836" y="0"/>
                </a:moveTo>
                <a:lnTo>
                  <a:pt x="0" y="0"/>
                </a:lnTo>
                <a:lnTo>
                  <a:pt x="0" y="6127683"/>
                </a:lnTo>
                <a:lnTo>
                  <a:pt x="4088836" y="6127683"/>
                </a:lnTo>
                <a:lnTo>
                  <a:pt x="408883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842240" y="1573366"/>
            <a:ext cx="9032606" cy="4244133"/>
            <a:chOff x="0" y="0"/>
            <a:chExt cx="2378958" cy="11177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8958" cy="1117796"/>
            </a:xfrm>
            <a:custGeom>
              <a:avLst/>
              <a:gdLst/>
              <a:ahLst/>
              <a:cxnLst/>
              <a:rect r="r" b="b" t="t" l="l"/>
              <a:pathLst>
                <a:path h="1117796" w="2378958">
                  <a:moveTo>
                    <a:pt x="43713" y="0"/>
                  </a:moveTo>
                  <a:lnTo>
                    <a:pt x="2335245" y="0"/>
                  </a:lnTo>
                  <a:cubicBezTo>
                    <a:pt x="2359387" y="0"/>
                    <a:pt x="2378958" y="19571"/>
                    <a:pt x="2378958" y="43713"/>
                  </a:cubicBezTo>
                  <a:lnTo>
                    <a:pt x="2378958" y="1074084"/>
                  </a:lnTo>
                  <a:cubicBezTo>
                    <a:pt x="2378958" y="1098226"/>
                    <a:pt x="2359387" y="1117796"/>
                    <a:pt x="2335245" y="1117796"/>
                  </a:cubicBezTo>
                  <a:lnTo>
                    <a:pt x="43713" y="1117796"/>
                  </a:lnTo>
                  <a:cubicBezTo>
                    <a:pt x="19571" y="1117796"/>
                    <a:pt x="0" y="1098226"/>
                    <a:pt x="0" y="1074084"/>
                  </a:cubicBezTo>
                  <a:lnTo>
                    <a:pt x="0" y="43713"/>
                  </a:lnTo>
                  <a:cubicBezTo>
                    <a:pt x="0" y="19571"/>
                    <a:pt x="19571" y="0"/>
                    <a:pt x="437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378958" cy="1117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053936" y="1813819"/>
            <a:ext cx="8513965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C53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Unmarried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C53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Lives Alone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C53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Small rented house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C53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Water outside home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1203606" y="3331305"/>
            <a:ext cx="5984024" cy="5505302"/>
          </a:xfrm>
          <a:custGeom>
            <a:avLst/>
            <a:gdLst/>
            <a:ahLst/>
            <a:cxnLst/>
            <a:rect r="r" b="b" t="t" l="l"/>
            <a:pathLst>
              <a:path h="5505302" w="5984024">
                <a:moveTo>
                  <a:pt x="0" y="0"/>
                </a:moveTo>
                <a:lnTo>
                  <a:pt x="5984023" y="0"/>
                </a:lnTo>
                <a:lnTo>
                  <a:pt x="5984023" y="5505302"/>
                </a:lnTo>
                <a:lnTo>
                  <a:pt x="0" y="55053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44789" y="198329"/>
            <a:ext cx="1031904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Social History: Demographics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65488" y="5977255"/>
            <a:ext cx="9190778" cy="328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b="true" sz="4700">
                <a:solidFill>
                  <a:srgbClr val="3C53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Tertiary education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b="true" sz="4700">
                <a:solidFill>
                  <a:srgbClr val="3C53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Assistant nurse at TB clinic 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b="true" sz="4700">
                <a:solidFill>
                  <a:srgbClr val="3C53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Currently working in the paediatric department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09999" y="376908"/>
            <a:ext cx="7129705" cy="1044928"/>
          </a:xfrm>
          <a:custGeom>
            <a:avLst/>
            <a:gdLst/>
            <a:ahLst/>
            <a:cxnLst/>
            <a:rect r="r" b="b" t="t" l="l"/>
            <a:pathLst>
              <a:path h="1044928" w="7129705">
                <a:moveTo>
                  <a:pt x="0" y="0"/>
                </a:moveTo>
                <a:lnTo>
                  <a:pt x="7129705" y="0"/>
                </a:lnTo>
                <a:lnTo>
                  <a:pt x="7129705" y="1044928"/>
                </a:lnTo>
                <a:lnTo>
                  <a:pt x="0" y="104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50" t="-225833" r="-131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631915">
            <a:off x="11191935" y="2213326"/>
            <a:ext cx="10191455" cy="8229600"/>
          </a:xfrm>
          <a:custGeom>
            <a:avLst/>
            <a:gdLst/>
            <a:ahLst/>
            <a:cxnLst/>
            <a:rect r="r" b="b" t="t" l="l"/>
            <a:pathLst>
              <a:path h="8229600" w="10191455">
                <a:moveTo>
                  <a:pt x="0" y="0"/>
                </a:moveTo>
                <a:lnTo>
                  <a:pt x="10191455" y="0"/>
                </a:lnTo>
                <a:lnTo>
                  <a:pt x="101914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165986">
            <a:off x="11351486" y="1557567"/>
            <a:ext cx="11815627" cy="9541119"/>
          </a:xfrm>
          <a:custGeom>
            <a:avLst/>
            <a:gdLst/>
            <a:ahLst/>
            <a:cxnLst/>
            <a:rect r="r" b="b" t="t" l="l"/>
            <a:pathLst>
              <a:path h="9541119" w="11815627">
                <a:moveTo>
                  <a:pt x="0" y="0"/>
                </a:moveTo>
                <a:lnTo>
                  <a:pt x="11815628" y="0"/>
                </a:lnTo>
                <a:lnTo>
                  <a:pt x="11815628" y="9541119"/>
                </a:lnTo>
                <a:lnTo>
                  <a:pt x="0" y="9541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0922" y="439854"/>
            <a:ext cx="2735605" cy="4355667"/>
          </a:xfrm>
          <a:custGeom>
            <a:avLst/>
            <a:gdLst/>
            <a:ahLst/>
            <a:cxnLst/>
            <a:rect r="r" b="b" t="t" l="l"/>
            <a:pathLst>
              <a:path h="4355667" w="2735605">
                <a:moveTo>
                  <a:pt x="0" y="0"/>
                </a:moveTo>
                <a:lnTo>
                  <a:pt x="2735606" y="0"/>
                </a:lnTo>
                <a:lnTo>
                  <a:pt x="2735606" y="4355667"/>
                </a:lnTo>
                <a:lnTo>
                  <a:pt x="0" y="43556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2373" y="1286826"/>
            <a:ext cx="2132705" cy="2661722"/>
          </a:xfrm>
          <a:custGeom>
            <a:avLst/>
            <a:gdLst/>
            <a:ahLst/>
            <a:cxnLst/>
            <a:rect r="r" b="b" t="t" l="l"/>
            <a:pathLst>
              <a:path h="2661722" w="2132705">
                <a:moveTo>
                  <a:pt x="0" y="0"/>
                </a:moveTo>
                <a:lnTo>
                  <a:pt x="2132704" y="0"/>
                </a:lnTo>
                <a:lnTo>
                  <a:pt x="2132704" y="2661722"/>
                </a:lnTo>
                <a:lnTo>
                  <a:pt x="0" y="26617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0922" y="5765410"/>
            <a:ext cx="2735605" cy="4355667"/>
          </a:xfrm>
          <a:custGeom>
            <a:avLst/>
            <a:gdLst/>
            <a:ahLst/>
            <a:cxnLst/>
            <a:rect r="r" b="b" t="t" l="l"/>
            <a:pathLst>
              <a:path h="4355667" w="2735605">
                <a:moveTo>
                  <a:pt x="0" y="0"/>
                </a:moveTo>
                <a:lnTo>
                  <a:pt x="2735606" y="0"/>
                </a:lnTo>
                <a:lnTo>
                  <a:pt x="2735606" y="4355667"/>
                </a:lnTo>
                <a:lnTo>
                  <a:pt x="0" y="4355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72306" y="5530027"/>
            <a:ext cx="13226885" cy="45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 sons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Mother and Father passed away </a:t>
            </a:r>
          </a:p>
          <a:p>
            <a:pPr algn="l" marL="971553" indent="-485777" lvl="1">
              <a:lnSpc>
                <a:spcPts val="4905"/>
              </a:lnSpc>
              <a:buFont typeface="Arial"/>
              <a:buChar char="•"/>
            </a:pP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Elder sister died of TB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Elder brother died in car accident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Brother had a history of one stroke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Younger sister is a known diabetic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08952" y="272133"/>
            <a:ext cx="847009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Lifestyle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23862" y="1626270"/>
            <a:ext cx="13175328" cy="333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553" indent="-485777" lvl="1">
              <a:lnSpc>
                <a:spcPts val="5265"/>
              </a:lnSpc>
              <a:buFont typeface="Arial"/>
              <a:buChar char="•"/>
            </a:pP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Does not smoke</a:t>
            </a:r>
          </a:p>
          <a:p>
            <a:pPr algn="just" marL="971553" indent="-485777" lvl="1">
              <a:lnSpc>
                <a:spcPts val="5265"/>
              </a:lnSpc>
              <a:buFont typeface="Arial"/>
              <a:buChar char="•"/>
            </a:pP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Drinks every 2</a:t>
            </a: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nd</a:t>
            </a: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weekend</a:t>
            </a:r>
          </a:p>
          <a:p>
            <a:pPr algn="just" marL="971553" indent="-485777" lvl="1">
              <a:lnSpc>
                <a:spcPts val="5265"/>
              </a:lnSpc>
              <a:buFont typeface="Arial"/>
              <a:buChar char="•"/>
            </a:pPr>
            <a:r>
              <a:rPr lang="en-US" b="true" sz="4500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Met up with a friend a week before her clinic visit who has TB</a:t>
            </a:r>
          </a:p>
          <a:p>
            <a:pPr algn="just">
              <a:lnSpc>
                <a:spcPts val="5265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82483" y="6162834"/>
            <a:ext cx="2592483" cy="3411162"/>
          </a:xfrm>
          <a:custGeom>
            <a:avLst/>
            <a:gdLst/>
            <a:ahLst/>
            <a:cxnLst/>
            <a:rect r="r" b="b" t="t" l="l"/>
            <a:pathLst>
              <a:path h="3411162" w="2592483">
                <a:moveTo>
                  <a:pt x="0" y="0"/>
                </a:moveTo>
                <a:lnTo>
                  <a:pt x="2592484" y="0"/>
                </a:lnTo>
                <a:lnTo>
                  <a:pt x="2592484" y="3411162"/>
                </a:lnTo>
                <a:lnTo>
                  <a:pt x="0" y="3411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94722" y="4795521"/>
            <a:ext cx="6102049" cy="969890"/>
          </a:xfrm>
          <a:custGeom>
            <a:avLst/>
            <a:gdLst/>
            <a:ahLst/>
            <a:cxnLst/>
            <a:rect r="r" b="b" t="t" l="l"/>
            <a:pathLst>
              <a:path h="969890" w="6102049">
                <a:moveTo>
                  <a:pt x="0" y="0"/>
                </a:moveTo>
                <a:lnTo>
                  <a:pt x="6102049" y="0"/>
                </a:lnTo>
                <a:lnTo>
                  <a:pt x="6102049" y="969889"/>
                </a:lnTo>
                <a:lnTo>
                  <a:pt x="0" y="96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410" t="-225833" r="-1654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09999" y="4690746"/>
            <a:ext cx="847009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Family history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F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50133" y="1794804"/>
          <a:ext cx="16209167" cy="7925262"/>
        </p:xfrm>
        <a:graphic>
          <a:graphicData uri="http://schemas.openxmlformats.org/drawingml/2006/table">
            <a:tbl>
              <a:tblPr/>
              <a:tblGrid>
                <a:gridCol w="5369381"/>
                <a:gridCol w="10839786"/>
              </a:tblGrid>
              <a:tr h="107956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Blood pressure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56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140/80 mmHg  - raised systolic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829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Heart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56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92 bpm - normal range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829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Respiratory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56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18 bpm - normal range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442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Temperature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56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36°C - normal range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8676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General examination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56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Normal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6013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Respiratory examination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A1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56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690881" indent="-345440" lvl="1">
                        <a:lnSpc>
                          <a:spcPts val="44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Scar from ICD(6 years ago)</a:t>
                      </a:r>
                      <a:endParaRPr lang="en-US" sz="1100"/>
                    </a:p>
                    <a:p>
                      <a:pPr algn="just" marL="690881" indent="-345440" lvl="1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Trachea slightly deviated to right</a:t>
                      </a:r>
                    </a:p>
                    <a:p>
                      <a:pPr algn="just" marL="690881" indent="-345440" lvl="1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b="true" sz="320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Basal crackles in right lower lobe posteriorly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DAF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4981296" y="120956"/>
            <a:ext cx="1011344" cy="1284616"/>
          </a:xfrm>
          <a:custGeom>
            <a:avLst/>
            <a:gdLst/>
            <a:ahLst/>
            <a:cxnLst/>
            <a:rect r="r" b="b" t="t" l="l"/>
            <a:pathLst>
              <a:path h="1284616" w="1011344">
                <a:moveTo>
                  <a:pt x="0" y="0"/>
                </a:moveTo>
                <a:lnTo>
                  <a:pt x="1011344" y="0"/>
                </a:lnTo>
                <a:lnTo>
                  <a:pt x="1011344" y="1284617"/>
                </a:lnTo>
                <a:lnTo>
                  <a:pt x="0" y="1284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4878408" y="-2723978"/>
            <a:ext cx="8552618" cy="16811719"/>
          </a:xfrm>
          <a:custGeom>
            <a:avLst/>
            <a:gdLst/>
            <a:ahLst/>
            <a:cxnLst/>
            <a:rect r="r" b="b" t="t" l="l"/>
            <a:pathLst>
              <a:path h="16811719" w="8552618">
                <a:moveTo>
                  <a:pt x="0" y="0"/>
                </a:moveTo>
                <a:lnTo>
                  <a:pt x="8552617" y="0"/>
                </a:lnTo>
                <a:lnTo>
                  <a:pt x="8552617" y="16811719"/>
                </a:lnTo>
                <a:lnTo>
                  <a:pt x="0" y="16811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836" t="-1699" r="-21382" b="-1189"/>
            </a:stretch>
          </a:blipFill>
          <a:ln w="95250" cap="sq">
            <a:solidFill>
              <a:srgbClr val="F19142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6106270" y="291142"/>
            <a:ext cx="649694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D5599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Clinical examination</a:t>
            </a:r>
          </a:p>
        </p:txBody>
      </p:sp>
      <p:sp>
        <p:nvSpPr>
          <p:cNvPr name="AutoShape 6" id="6"/>
          <p:cNvSpPr/>
          <p:nvPr/>
        </p:nvSpPr>
        <p:spPr>
          <a:xfrm>
            <a:off x="12816856" y="801364"/>
            <a:ext cx="6492240" cy="0"/>
          </a:xfrm>
          <a:prstGeom prst="line">
            <a:avLst/>
          </a:prstGeom>
          <a:ln cap="flat" w="38100">
            <a:solidFill>
              <a:srgbClr val="4A64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-1610956" y="763264"/>
            <a:ext cx="6492240" cy="0"/>
          </a:xfrm>
          <a:prstGeom prst="line">
            <a:avLst/>
          </a:prstGeom>
          <a:ln cap="flat" w="38100">
            <a:solidFill>
              <a:srgbClr val="4A64B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1D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826514"/>
            <a:chOff x="0" y="0"/>
            <a:chExt cx="4816593" cy="12711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271181"/>
            </a:xfrm>
            <a:custGeom>
              <a:avLst/>
              <a:gdLst/>
              <a:ahLst/>
              <a:cxnLst/>
              <a:rect r="r" b="b" t="t" l="l"/>
              <a:pathLst>
                <a:path h="127118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71181"/>
                  </a:lnTo>
                  <a:lnTo>
                    <a:pt x="0" y="1271181"/>
                  </a:lnTo>
                  <a:close/>
                </a:path>
              </a:pathLst>
            </a:custGeom>
            <a:solidFill>
              <a:srgbClr val="E7F1F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127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826514"/>
            <a:ext cx="4803951" cy="4431786"/>
            <a:chOff x="0" y="0"/>
            <a:chExt cx="1265238" cy="11672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5238" cy="1167219"/>
            </a:xfrm>
            <a:custGeom>
              <a:avLst/>
              <a:gdLst/>
              <a:ahLst/>
              <a:cxnLst/>
              <a:rect r="r" b="b" t="t" l="l"/>
              <a:pathLst>
                <a:path h="1167219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1167219"/>
                  </a:lnTo>
                  <a:lnTo>
                    <a:pt x="0" y="11672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65238" cy="1167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Negative sputum result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 not rule out TB after one week of symptoms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42024" y="4826514"/>
            <a:ext cx="4803951" cy="4431786"/>
            <a:chOff x="0" y="0"/>
            <a:chExt cx="1265238" cy="11672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5238" cy="1167219"/>
            </a:xfrm>
            <a:custGeom>
              <a:avLst/>
              <a:gdLst/>
              <a:ahLst/>
              <a:cxnLst/>
              <a:rect r="r" b="b" t="t" l="l"/>
              <a:pathLst>
                <a:path h="1167219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1167219"/>
                  </a:lnTo>
                  <a:lnTo>
                    <a:pt x="0" y="11672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65238" cy="1167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Appropriate to rule out co-infections or bacterial pneumonia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55349" y="4826514"/>
            <a:ext cx="4803951" cy="4431786"/>
            <a:chOff x="0" y="0"/>
            <a:chExt cx="1265238" cy="11672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5238" cy="1167219"/>
            </a:xfrm>
            <a:custGeom>
              <a:avLst/>
              <a:gdLst/>
              <a:ahLst/>
              <a:cxnLst/>
              <a:rect r="r" b="b" t="t" l="l"/>
              <a:pathLst>
                <a:path h="1167219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1167219"/>
                  </a:lnTo>
                  <a:lnTo>
                    <a:pt x="0" y="11672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265238" cy="1167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Useful to visualise lung pathology and to assess extent and distribution of disease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601413"/>
            <a:ext cx="4803951" cy="1225101"/>
            <a:chOff x="0" y="0"/>
            <a:chExt cx="1265238" cy="3226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5238" cy="322660"/>
            </a:xfrm>
            <a:custGeom>
              <a:avLst/>
              <a:gdLst/>
              <a:ahLst/>
              <a:cxnLst/>
              <a:rect r="r" b="b" t="t" l="l"/>
              <a:pathLst>
                <a:path h="322660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322660"/>
                  </a:lnTo>
                  <a:lnTo>
                    <a:pt x="0" y="322660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265238" cy="313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9"/>
                </a:lnSpc>
              </a:pPr>
              <a:r>
                <a:rPr lang="en-US" b="true" sz="28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Sputum TB GeneXpert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42024" y="3601413"/>
            <a:ext cx="4803951" cy="1225101"/>
            <a:chOff x="0" y="0"/>
            <a:chExt cx="1265238" cy="322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5238" cy="322660"/>
            </a:xfrm>
            <a:custGeom>
              <a:avLst/>
              <a:gdLst/>
              <a:ahLst/>
              <a:cxnLst/>
              <a:rect r="r" b="b" t="t" l="l"/>
              <a:pathLst>
                <a:path h="322660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322660"/>
                  </a:lnTo>
                  <a:lnTo>
                    <a:pt x="0" y="322660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265238" cy="313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9"/>
                </a:lnSpc>
              </a:pPr>
              <a:r>
                <a:rPr lang="en-US" b="true" sz="28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Sputum MCS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55349" y="3601413"/>
            <a:ext cx="4803951" cy="1225101"/>
            <a:chOff x="0" y="0"/>
            <a:chExt cx="1265238" cy="3226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5238" cy="322660"/>
            </a:xfrm>
            <a:custGeom>
              <a:avLst/>
              <a:gdLst/>
              <a:ahLst/>
              <a:cxnLst/>
              <a:rect r="r" b="b" t="t" l="l"/>
              <a:pathLst>
                <a:path h="322660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322660"/>
                  </a:lnTo>
                  <a:lnTo>
                    <a:pt x="0" y="322660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265238" cy="313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9"/>
                </a:lnSpc>
              </a:pPr>
              <a:r>
                <a:rPr lang="en-US" b="true" sz="28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Chest X-ray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2034398">
            <a:off x="-77625" y="5704994"/>
            <a:ext cx="1888094" cy="5436919"/>
          </a:xfrm>
          <a:custGeom>
            <a:avLst/>
            <a:gdLst/>
            <a:ahLst/>
            <a:cxnLst/>
            <a:rect r="r" b="b" t="t" l="l"/>
            <a:pathLst>
              <a:path h="5436919" w="1888094">
                <a:moveTo>
                  <a:pt x="0" y="0"/>
                </a:moveTo>
                <a:lnTo>
                  <a:pt x="1888094" y="0"/>
                </a:lnTo>
                <a:lnTo>
                  <a:pt x="1888094" y="5436918"/>
                </a:lnTo>
                <a:lnTo>
                  <a:pt x="0" y="5436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453403" y="1028700"/>
            <a:ext cx="2322675" cy="2813813"/>
          </a:xfrm>
          <a:custGeom>
            <a:avLst/>
            <a:gdLst/>
            <a:ahLst/>
            <a:cxnLst/>
            <a:rect r="r" b="b" t="t" l="l"/>
            <a:pathLst>
              <a:path h="2813813" w="2322675">
                <a:moveTo>
                  <a:pt x="0" y="0"/>
                </a:moveTo>
                <a:lnTo>
                  <a:pt x="2322675" y="0"/>
                </a:lnTo>
                <a:lnTo>
                  <a:pt x="2322675" y="2813813"/>
                </a:lnTo>
                <a:lnTo>
                  <a:pt x="0" y="2813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153630" y="1164137"/>
            <a:ext cx="7980739" cy="1044928"/>
          </a:xfrm>
          <a:custGeom>
            <a:avLst/>
            <a:gdLst/>
            <a:ahLst/>
            <a:cxnLst/>
            <a:rect r="r" b="b" t="t" l="l"/>
            <a:pathLst>
              <a:path h="1044928" w="7980739">
                <a:moveTo>
                  <a:pt x="0" y="0"/>
                </a:moveTo>
                <a:lnTo>
                  <a:pt x="7980740" y="0"/>
                </a:lnTo>
                <a:lnTo>
                  <a:pt x="7980740" y="1044928"/>
                </a:lnTo>
                <a:lnTo>
                  <a:pt x="0" y="1044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6546" r="0" b="-96546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617666" y="1195428"/>
            <a:ext cx="705266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Special investigations: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59578" y="1461341"/>
            <a:ext cx="10368845" cy="7796959"/>
          </a:xfrm>
          <a:custGeom>
            <a:avLst/>
            <a:gdLst/>
            <a:ahLst/>
            <a:cxnLst/>
            <a:rect r="r" b="b" t="t" l="l"/>
            <a:pathLst>
              <a:path h="7796959" w="10368845">
                <a:moveTo>
                  <a:pt x="0" y="0"/>
                </a:moveTo>
                <a:lnTo>
                  <a:pt x="10368844" y="0"/>
                </a:lnTo>
                <a:lnTo>
                  <a:pt x="10368844" y="7796959"/>
                </a:lnTo>
                <a:lnTo>
                  <a:pt x="0" y="779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07" t="-10080" r="-11500" b="-13903"/>
            </a:stretch>
          </a:blipFill>
          <a:ln w="6667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2198603" y="1461341"/>
            <a:ext cx="5400651" cy="1007049"/>
            <a:chOff x="0" y="0"/>
            <a:chExt cx="1422394" cy="2652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2394" cy="265231"/>
            </a:xfrm>
            <a:custGeom>
              <a:avLst/>
              <a:gdLst/>
              <a:ahLst/>
              <a:cxnLst/>
              <a:rect r="r" b="b" t="t" l="l"/>
              <a:pathLst>
                <a:path h="265231" w="1422394">
                  <a:moveTo>
                    <a:pt x="38705" y="0"/>
                  </a:moveTo>
                  <a:lnTo>
                    <a:pt x="1383689" y="0"/>
                  </a:lnTo>
                  <a:cubicBezTo>
                    <a:pt x="1393954" y="0"/>
                    <a:pt x="1403799" y="4078"/>
                    <a:pt x="1411057" y="11336"/>
                  </a:cubicBezTo>
                  <a:cubicBezTo>
                    <a:pt x="1418316" y="18595"/>
                    <a:pt x="1422394" y="28440"/>
                    <a:pt x="1422394" y="38705"/>
                  </a:cubicBezTo>
                  <a:lnTo>
                    <a:pt x="1422394" y="226526"/>
                  </a:lnTo>
                  <a:cubicBezTo>
                    <a:pt x="1422394" y="236791"/>
                    <a:pt x="1418316" y="246636"/>
                    <a:pt x="1411057" y="253895"/>
                  </a:cubicBezTo>
                  <a:cubicBezTo>
                    <a:pt x="1403799" y="261153"/>
                    <a:pt x="1393954" y="265231"/>
                    <a:pt x="1383689" y="265231"/>
                  </a:cubicBezTo>
                  <a:lnTo>
                    <a:pt x="38705" y="265231"/>
                  </a:lnTo>
                  <a:cubicBezTo>
                    <a:pt x="28440" y="265231"/>
                    <a:pt x="18595" y="261153"/>
                    <a:pt x="11336" y="253895"/>
                  </a:cubicBezTo>
                  <a:cubicBezTo>
                    <a:pt x="4078" y="246636"/>
                    <a:pt x="0" y="236791"/>
                    <a:pt x="0" y="226526"/>
                  </a:cubicBezTo>
                  <a:lnTo>
                    <a:pt x="0" y="38705"/>
                  </a:lnTo>
                  <a:cubicBezTo>
                    <a:pt x="0" y="28440"/>
                    <a:pt x="4078" y="18595"/>
                    <a:pt x="11336" y="11336"/>
                  </a:cubicBezTo>
                  <a:cubicBezTo>
                    <a:pt x="18595" y="4078"/>
                    <a:pt x="28440" y="0"/>
                    <a:pt x="38705" y="0"/>
                  </a:cubicBez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22394" cy="265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trachea deviated to the right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662889" y="4022265"/>
            <a:ext cx="5400651" cy="1007049"/>
            <a:chOff x="0" y="0"/>
            <a:chExt cx="1422394" cy="2652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2394" cy="265231"/>
            </a:xfrm>
            <a:custGeom>
              <a:avLst/>
              <a:gdLst/>
              <a:ahLst/>
              <a:cxnLst/>
              <a:rect r="r" b="b" t="t" l="l"/>
              <a:pathLst>
                <a:path h="265231" w="1422394">
                  <a:moveTo>
                    <a:pt x="38705" y="0"/>
                  </a:moveTo>
                  <a:lnTo>
                    <a:pt x="1383689" y="0"/>
                  </a:lnTo>
                  <a:cubicBezTo>
                    <a:pt x="1393954" y="0"/>
                    <a:pt x="1403799" y="4078"/>
                    <a:pt x="1411057" y="11336"/>
                  </a:cubicBezTo>
                  <a:cubicBezTo>
                    <a:pt x="1418316" y="18595"/>
                    <a:pt x="1422394" y="28440"/>
                    <a:pt x="1422394" y="38705"/>
                  </a:cubicBezTo>
                  <a:lnTo>
                    <a:pt x="1422394" y="226526"/>
                  </a:lnTo>
                  <a:cubicBezTo>
                    <a:pt x="1422394" y="236791"/>
                    <a:pt x="1418316" y="246636"/>
                    <a:pt x="1411057" y="253895"/>
                  </a:cubicBezTo>
                  <a:cubicBezTo>
                    <a:pt x="1403799" y="261153"/>
                    <a:pt x="1393954" y="265231"/>
                    <a:pt x="1383689" y="265231"/>
                  </a:cubicBezTo>
                  <a:lnTo>
                    <a:pt x="38705" y="265231"/>
                  </a:lnTo>
                  <a:cubicBezTo>
                    <a:pt x="28440" y="265231"/>
                    <a:pt x="18595" y="261153"/>
                    <a:pt x="11336" y="253895"/>
                  </a:cubicBezTo>
                  <a:cubicBezTo>
                    <a:pt x="4078" y="246636"/>
                    <a:pt x="0" y="236791"/>
                    <a:pt x="0" y="226526"/>
                  </a:cubicBezTo>
                  <a:lnTo>
                    <a:pt x="0" y="38705"/>
                  </a:lnTo>
                  <a:cubicBezTo>
                    <a:pt x="0" y="28440"/>
                    <a:pt x="4078" y="18595"/>
                    <a:pt x="11336" y="11336"/>
                  </a:cubicBezTo>
                  <a:cubicBezTo>
                    <a:pt x="18595" y="4078"/>
                    <a:pt x="28440" y="0"/>
                    <a:pt x="38705" y="0"/>
                  </a:cubicBez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22394" cy="265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infiltration in left upper lobe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62889" y="6545504"/>
            <a:ext cx="5400651" cy="1007049"/>
            <a:chOff x="0" y="0"/>
            <a:chExt cx="1422394" cy="2652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2394" cy="265231"/>
            </a:xfrm>
            <a:custGeom>
              <a:avLst/>
              <a:gdLst/>
              <a:ahLst/>
              <a:cxnLst/>
              <a:rect r="r" b="b" t="t" l="l"/>
              <a:pathLst>
                <a:path h="265231" w="1422394">
                  <a:moveTo>
                    <a:pt x="38705" y="0"/>
                  </a:moveTo>
                  <a:lnTo>
                    <a:pt x="1383689" y="0"/>
                  </a:lnTo>
                  <a:cubicBezTo>
                    <a:pt x="1393954" y="0"/>
                    <a:pt x="1403799" y="4078"/>
                    <a:pt x="1411057" y="11336"/>
                  </a:cubicBezTo>
                  <a:cubicBezTo>
                    <a:pt x="1418316" y="18595"/>
                    <a:pt x="1422394" y="28440"/>
                    <a:pt x="1422394" y="38705"/>
                  </a:cubicBezTo>
                  <a:lnTo>
                    <a:pt x="1422394" y="226526"/>
                  </a:lnTo>
                  <a:cubicBezTo>
                    <a:pt x="1422394" y="236791"/>
                    <a:pt x="1418316" y="246636"/>
                    <a:pt x="1411057" y="253895"/>
                  </a:cubicBezTo>
                  <a:cubicBezTo>
                    <a:pt x="1403799" y="261153"/>
                    <a:pt x="1393954" y="265231"/>
                    <a:pt x="1383689" y="265231"/>
                  </a:cubicBezTo>
                  <a:lnTo>
                    <a:pt x="38705" y="265231"/>
                  </a:lnTo>
                  <a:cubicBezTo>
                    <a:pt x="28440" y="265231"/>
                    <a:pt x="18595" y="261153"/>
                    <a:pt x="11336" y="253895"/>
                  </a:cubicBezTo>
                  <a:cubicBezTo>
                    <a:pt x="4078" y="246636"/>
                    <a:pt x="0" y="236791"/>
                    <a:pt x="0" y="226526"/>
                  </a:cubicBezTo>
                  <a:lnTo>
                    <a:pt x="0" y="38705"/>
                  </a:lnTo>
                  <a:cubicBezTo>
                    <a:pt x="0" y="28440"/>
                    <a:pt x="4078" y="18595"/>
                    <a:pt x="11336" y="11336"/>
                  </a:cubicBezTo>
                  <a:cubicBezTo>
                    <a:pt x="18595" y="4078"/>
                    <a:pt x="28440" y="0"/>
                    <a:pt x="38705" y="0"/>
                  </a:cubicBez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422394" cy="265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nodular pattern in parenchyma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opacification in most lobes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111018" y="236855"/>
            <a:ext cx="4065964" cy="1044928"/>
          </a:xfrm>
          <a:custGeom>
            <a:avLst/>
            <a:gdLst/>
            <a:ahLst/>
            <a:cxnLst/>
            <a:rect r="r" b="b" t="t" l="l"/>
            <a:pathLst>
              <a:path h="1044928" w="4065964">
                <a:moveTo>
                  <a:pt x="0" y="0"/>
                </a:moveTo>
                <a:lnTo>
                  <a:pt x="4065964" y="0"/>
                </a:lnTo>
                <a:lnTo>
                  <a:pt x="4065964" y="1044928"/>
                </a:lnTo>
                <a:lnTo>
                  <a:pt x="0" y="1044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661" r="0" b="-24661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254767" y="4525789"/>
            <a:ext cx="3427920" cy="5761211"/>
          </a:xfrm>
          <a:custGeom>
            <a:avLst/>
            <a:gdLst/>
            <a:ahLst/>
            <a:cxnLst/>
            <a:rect r="r" b="b" t="t" l="l"/>
            <a:pathLst>
              <a:path h="5761211" w="3427920">
                <a:moveTo>
                  <a:pt x="3427920" y="0"/>
                </a:moveTo>
                <a:lnTo>
                  <a:pt x="0" y="0"/>
                </a:lnTo>
                <a:lnTo>
                  <a:pt x="0" y="5761211"/>
                </a:lnTo>
                <a:lnTo>
                  <a:pt x="3427920" y="5761211"/>
                </a:lnTo>
                <a:lnTo>
                  <a:pt x="3427920" y="0"/>
                </a:lnTo>
                <a:close/>
              </a:path>
            </a:pathLst>
          </a:custGeom>
          <a:blipFill>
            <a:blip r:embed="rId4">
              <a:alphaModFix amt="84000"/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329934" y="268146"/>
            <a:ext cx="36281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Chest X-ray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98603" y="8754776"/>
            <a:ext cx="5400651" cy="1007049"/>
            <a:chOff x="0" y="0"/>
            <a:chExt cx="1422394" cy="2652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2394" cy="265231"/>
            </a:xfrm>
            <a:custGeom>
              <a:avLst/>
              <a:gdLst/>
              <a:ahLst/>
              <a:cxnLst/>
              <a:rect r="r" b="b" t="t" l="l"/>
              <a:pathLst>
                <a:path h="265231" w="1422394">
                  <a:moveTo>
                    <a:pt x="38705" y="0"/>
                  </a:moveTo>
                  <a:lnTo>
                    <a:pt x="1383689" y="0"/>
                  </a:lnTo>
                  <a:cubicBezTo>
                    <a:pt x="1393954" y="0"/>
                    <a:pt x="1403799" y="4078"/>
                    <a:pt x="1411057" y="11336"/>
                  </a:cubicBezTo>
                  <a:cubicBezTo>
                    <a:pt x="1418316" y="18595"/>
                    <a:pt x="1422394" y="28440"/>
                    <a:pt x="1422394" y="38705"/>
                  </a:cubicBezTo>
                  <a:lnTo>
                    <a:pt x="1422394" y="226526"/>
                  </a:lnTo>
                  <a:cubicBezTo>
                    <a:pt x="1422394" y="236791"/>
                    <a:pt x="1418316" y="246636"/>
                    <a:pt x="1411057" y="253895"/>
                  </a:cubicBezTo>
                  <a:cubicBezTo>
                    <a:pt x="1403799" y="261153"/>
                    <a:pt x="1393954" y="265231"/>
                    <a:pt x="1383689" y="265231"/>
                  </a:cubicBezTo>
                  <a:lnTo>
                    <a:pt x="38705" y="265231"/>
                  </a:lnTo>
                  <a:cubicBezTo>
                    <a:pt x="28440" y="265231"/>
                    <a:pt x="18595" y="261153"/>
                    <a:pt x="11336" y="253895"/>
                  </a:cubicBezTo>
                  <a:cubicBezTo>
                    <a:pt x="4078" y="246636"/>
                    <a:pt x="0" y="236791"/>
                    <a:pt x="0" y="226526"/>
                  </a:cubicBezTo>
                  <a:lnTo>
                    <a:pt x="0" y="38705"/>
                  </a:lnTo>
                  <a:cubicBezTo>
                    <a:pt x="0" y="28440"/>
                    <a:pt x="4078" y="18595"/>
                    <a:pt x="11336" y="11336"/>
                  </a:cubicBezTo>
                  <a:cubicBezTo>
                    <a:pt x="18595" y="4078"/>
                    <a:pt x="28440" y="0"/>
                    <a:pt x="38705" y="0"/>
                  </a:cubicBez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422394" cy="265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infiltration in right lower lobe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1D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826514"/>
            <a:chOff x="0" y="0"/>
            <a:chExt cx="4816593" cy="12711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271181"/>
            </a:xfrm>
            <a:custGeom>
              <a:avLst/>
              <a:gdLst/>
              <a:ahLst/>
              <a:cxnLst/>
              <a:rect r="r" b="b" t="t" l="l"/>
              <a:pathLst>
                <a:path h="127118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71181"/>
                  </a:lnTo>
                  <a:lnTo>
                    <a:pt x="0" y="1271181"/>
                  </a:lnTo>
                  <a:close/>
                </a:path>
              </a:pathLst>
            </a:custGeom>
            <a:solidFill>
              <a:srgbClr val="E7F1F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127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826514"/>
            <a:ext cx="4803951" cy="4431786"/>
            <a:chOff x="0" y="0"/>
            <a:chExt cx="1265238" cy="11672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5238" cy="1167219"/>
            </a:xfrm>
            <a:custGeom>
              <a:avLst/>
              <a:gdLst/>
              <a:ahLst/>
              <a:cxnLst/>
              <a:rect r="r" b="b" t="t" l="l"/>
              <a:pathLst>
                <a:path h="1167219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1167219"/>
                  </a:lnTo>
                  <a:lnTo>
                    <a:pt x="0" y="11672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65238" cy="1167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Negative sputum result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can not rule out TB after one week of symptoms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42024" y="4826514"/>
            <a:ext cx="4803951" cy="4431786"/>
            <a:chOff x="0" y="0"/>
            <a:chExt cx="1265238" cy="11672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5238" cy="1167219"/>
            </a:xfrm>
            <a:custGeom>
              <a:avLst/>
              <a:gdLst/>
              <a:ahLst/>
              <a:cxnLst/>
              <a:rect r="r" b="b" t="t" l="l"/>
              <a:pathLst>
                <a:path h="1167219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1167219"/>
                  </a:lnTo>
                  <a:lnTo>
                    <a:pt x="0" y="11672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65238" cy="1167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Appropriate to rule out co-infections or bacterial pneumonia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55349" y="4826514"/>
            <a:ext cx="4803951" cy="4431786"/>
            <a:chOff x="0" y="0"/>
            <a:chExt cx="1265238" cy="11672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5238" cy="1167219"/>
            </a:xfrm>
            <a:custGeom>
              <a:avLst/>
              <a:gdLst/>
              <a:ahLst/>
              <a:cxnLst/>
              <a:rect r="r" b="b" t="t" l="l"/>
              <a:pathLst>
                <a:path h="1167219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1167219"/>
                  </a:lnTo>
                  <a:lnTo>
                    <a:pt x="0" y="11672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265238" cy="1167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Useful to visualise lung pathology and to assess extent and distribution of disease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601413"/>
            <a:ext cx="4803951" cy="1225101"/>
            <a:chOff x="0" y="0"/>
            <a:chExt cx="1265238" cy="3226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5238" cy="322660"/>
            </a:xfrm>
            <a:custGeom>
              <a:avLst/>
              <a:gdLst/>
              <a:ahLst/>
              <a:cxnLst/>
              <a:rect r="r" b="b" t="t" l="l"/>
              <a:pathLst>
                <a:path h="322660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322660"/>
                  </a:lnTo>
                  <a:lnTo>
                    <a:pt x="0" y="322660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265238" cy="313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9"/>
                </a:lnSpc>
              </a:pPr>
              <a:r>
                <a:rPr lang="en-US" b="true" sz="28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Sputum TB GeneXpert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42024" y="3601413"/>
            <a:ext cx="4803951" cy="1225101"/>
            <a:chOff x="0" y="0"/>
            <a:chExt cx="1265238" cy="322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5238" cy="322660"/>
            </a:xfrm>
            <a:custGeom>
              <a:avLst/>
              <a:gdLst/>
              <a:ahLst/>
              <a:cxnLst/>
              <a:rect r="r" b="b" t="t" l="l"/>
              <a:pathLst>
                <a:path h="322660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322660"/>
                  </a:lnTo>
                  <a:lnTo>
                    <a:pt x="0" y="322660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265238" cy="313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9"/>
                </a:lnSpc>
              </a:pPr>
              <a:r>
                <a:rPr lang="en-US" b="true" sz="28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Sputum MCS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55349" y="3601413"/>
            <a:ext cx="4803951" cy="1225101"/>
            <a:chOff x="0" y="0"/>
            <a:chExt cx="1265238" cy="3226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5238" cy="322660"/>
            </a:xfrm>
            <a:custGeom>
              <a:avLst/>
              <a:gdLst/>
              <a:ahLst/>
              <a:cxnLst/>
              <a:rect r="r" b="b" t="t" l="l"/>
              <a:pathLst>
                <a:path h="322660" w="1265238">
                  <a:moveTo>
                    <a:pt x="0" y="0"/>
                  </a:moveTo>
                  <a:lnTo>
                    <a:pt x="1265238" y="0"/>
                  </a:lnTo>
                  <a:lnTo>
                    <a:pt x="1265238" y="322660"/>
                  </a:lnTo>
                  <a:lnTo>
                    <a:pt x="0" y="322660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265238" cy="313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9"/>
                </a:lnSpc>
              </a:pPr>
              <a:r>
                <a:rPr lang="en-US" b="true" sz="28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Chest X-ray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2034398">
            <a:off x="-77625" y="5704994"/>
            <a:ext cx="1888094" cy="5436919"/>
          </a:xfrm>
          <a:custGeom>
            <a:avLst/>
            <a:gdLst/>
            <a:ahLst/>
            <a:cxnLst/>
            <a:rect r="r" b="b" t="t" l="l"/>
            <a:pathLst>
              <a:path h="5436919" w="1888094">
                <a:moveTo>
                  <a:pt x="0" y="0"/>
                </a:moveTo>
                <a:lnTo>
                  <a:pt x="1888094" y="0"/>
                </a:lnTo>
                <a:lnTo>
                  <a:pt x="1888094" y="5436918"/>
                </a:lnTo>
                <a:lnTo>
                  <a:pt x="0" y="5436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453403" y="1028700"/>
            <a:ext cx="2322675" cy="2813813"/>
          </a:xfrm>
          <a:custGeom>
            <a:avLst/>
            <a:gdLst/>
            <a:ahLst/>
            <a:cxnLst/>
            <a:rect r="r" b="b" t="t" l="l"/>
            <a:pathLst>
              <a:path h="2813813" w="2322675">
                <a:moveTo>
                  <a:pt x="0" y="0"/>
                </a:moveTo>
                <a:lnTo>
                  <a:pt x="2322675" y="0"/>
                </a:lnTo>
                <a:lnTo>
                  <a:pt x="2322675" y="2813813"/>
                </a:lnTo>
                <a:lnTo>
                  <a:pt x="0" y="2813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153630" y="1164137"/>
            <a:ext cx="7980739" cy="1044928"/>
          </a:xfrm>
          <a:custGeom>
            <a:avLst/>
            <a:gdLst/>
            <a:ahLst/>
            <a:cxnLst/>
            <a:rect r="r" b="b" t="t" l="l"/>
            <a:pathLst>
              <a:path h="1044928" w="7980739">
                <a:moveTo>
                  <a:pt x="0" y="0"/>
                </a:moveTo>
                <a:lnTo>
                  <a:pt x="7980740" y="0"/>
                </a:lnTo>
                <a:lnTo>
                  <a:pt x="7980740" y="1044928"/>
                </a:lnTo>
                <a:lnTo>
                  <a:pt x="0" y="1044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6546" r="0" b="-96546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617666" y="1195428"/>
            <a:ext cx="705266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Special investigations: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29750" y="3546453"/>
            <a:ext cx="7829550" cy="5711847"/>
            <a:chOff x="0" y="0"/>
            <a:chExt cx="2062104" cy="1504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2104" cy="1504355"/>
            </a:xfrm>
            <a:custGeom>
              <a:avLst/>
              <a:gdLst/>
              <a:ahLst/>
              <a:cxnLst/>
              <a:rect r="r" b="b" t="t" l="l"/>
              <a:pathLst>
                <a:path h="1504355" w="2062104">
                  <a:moveTo>
                    <a:pt x="0" y="0"/>
                  </a:moveTo>
                  <a:lnTo>
                    <a:pt x="2062104" y="0"/>
                  </a:lnTo>
                  <a:lnTo>
                    <a:pt x="2062104" y="1504355"/>
                  </a:lnTo>
                  <a:lnTo>
                    <a:pt x="0" y="15043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62104" cy="1513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    Typically present with :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cough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fever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purulent sputum</a:t>
              </a:r>
            </a:p>
            <a:p>
              <a:pPr algn="l">
                <a:lnSpc>
                  <a:spcPts val="43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3546453"/>
            <a:chOff x="0" y="0"/>
            <a:chExt cx="4816593" cy="9340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934045"/>
            </a:xfrm>
            <a:custGeom>
              <a:avLst/>
              <a:gdLst/>
              <a:ahLst/>
              <a:cxnLst/>
              <a:rect r="r" b="b" t="t" l="l"/>
              <a:pathLst>
                <a:path h="93404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4045"/>
                  </a:lnTo>
                  <a:lnTo>
                    <a:pt x="0" y="934045"/>
                  </a:lnTo>
                  <a:close/>
                </a:path>
              </a:pathLst>
            </a:custGeom>
            <a:solidFill>
              <a:srgbClr val="A1D4E1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816593" cy="934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546453"/>
            <a:ext cx="7829550" cy="5711847"/>
            <a:chOff x="0" y="0"/>
            <a:chExt cx="2062104" cy="15043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2104" cy="1504355"/>
            </a:xfrm>
            <a:custGeom>
              <a:avLst/>
              <a:gdLst/>
              <a:ahLst/>
              <a:cxnLst/>
              <a:rect r="r" b="b" t="t" l="l"/>
              <a:pathLst>
                <a:path h="1504355" w="2062104">
                  <a:moveTo>
                    <a:pt x="0" y="0"/>
                  </a:moveTo>
                  <a:lnTo>
                    <a:pt x="2062104" y="0"/>
                  </a:lnTo>
                  <a:lnTo>
                    <a:pt x="2062104" y="1504355"/>
                  </a:lnTo>
                  <a:lnTo>
                    <a:pt x="0" y="15043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62104" cy="1513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most likely diagnosis</a:t>
              </a:r>
            </a:p>
            <a:p>
              <a:pPr algn="l">
                <a:lnSpc>
                  <a:spcPts val="4320"/>
                </a:lnSpc>
              </a:pP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b="true" sz="36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Negative results could be due to subacute onset of constitutional symptoms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2321352"/>
            <a:ext cx="7829550" cy="1367790"/>
            <a:chOff x="0" y="0"/>
            <a:chExt cx="2062104" cy="3602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2104" cy="360241"/>
            </a:xfrm>
            <a:custGeom>
              <a:avLst/>
              <a:gdLst/>
              <a:ahLst/>
              <a:cxnLst/>
              <a:rect r="r" b="b" t="t" l="l"/>
              <a:pathLst>
                <a:path h="360241" w="2062104">
                  <a:moveTo>
                    <a:pt x="0" y="0"/>
                  </a:moveTo>
                  <a:lnTo>
                    <a:pt x="2062104" y="0"/>
                  </a:lnTo>
                  <a:lnTo>
                    <a:pt x="2062104" y="360241"/>
                  </a:lnTo>
                  <a:lnTo>
                    <a:pt x="0" y="360241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62104" cy="369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TB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29750" y="2321352"/>
            <a:ext cx="7829550" cy="1367790"/>
            <a:chOff x="0" y="0"/>
            <a:chExt cx="2062104" cy="3602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2104" cy="360241"/>
            </a:xfrm>
            <a:custGeom>
              <a:avLst/>
              <a:gdLst/>
              <a:ahLst/>
              <a:cxnLst/>
              <a:rect r="r" b="b" t="t" l="l"/>
              <a:pathLst>
                <a:path h="360241" w="2062104">
                  <a:moveTo>
                    <a:pt x="0" y="0"/>
                  </a:moveTo>
                  <a:lnTo>
                    <a:pt x="2062104" y="0"/>
                  </a:lnTo>
                  <a:lnTo>
                    <a:pt x="2062104" y="360241"/>
                  </a:lnTo>
                  <a:lnTo>
                    <a:pt x="0" y="360241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62104" cy="369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Pneumonia (Community Acquired Pneumonia)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363691" y="933450"/>
            <a:ext cx="698911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Differential Diagnosis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9437866">
            <a:off x="-5016669" y="-1892846"/>
            <a:ext cx="10520076" cy="8428394"/>
          </a:xfrm>
          <a:custGeom>
            <a:avLst/>
            <a:gdLst/>
            <a:ahLst/>
            <a:cxnLst/>
            <a:rect r="r" b="b" t="t" l="l"/>
            <a:pathLst>
              <a:path h="8428394" w="10520076">
                <a:moveTo>
                  <a:pt x="0" y="0"/>
                </a:moveTo>
                <a:lnTo>
                  <a:pt x="10520076" y="0"/>
                </a:lnTo>
                <a:lnTo>
                  <a:pt x="10520076" y="8428395"/>
                </a:lnTo>
                <a:lnTo>
                  <a:pt x="0" y="8428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4" r="0" b="-39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316492">
            <a:off x="-5444780" y="-3421792"/>
            <a:ext cx="11376298" cy="9186361"/>
          </a:xfrm>
          <a:custGeom>
            <a:avLst/>
            <a:gdLst/>
            <a:ahLst/>
            <a:cxnLst/>
            <a:rect r="r" b="b" t="t" l="l"/>
            <a:pathLst>
              <a:path h="9186361" w="11376298">
                <a:moveTo>
                  <a:pt x="0" y="0"/>
                </a:moveTo>
                <a:lnTo>
                  <a:pt x="11376298" y="0"/>
                </a:lnTo>
                <a:lnTo>
                  <a:pt x="11376298" y="9186361"/>
                </a:lnTo>
                <a:lnTo>
                  <a:pt x="0" y="9186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324241" y="-156159"/>
            <a:ext cx="2935059" cy="2369718"/>
          </a:xfrm>
          <a:custGeom>
            <a:avLst/>
            <a:gdLst/>
            <a:ahLst/>
            <a:cxnLst/>
            <a:rect r="r" b="b" t="t" l="l"/>
            <a:pathLst>
              <a:path h="2369718" w="2935059">
                <a:moveTo>
                  <a:pt x="0" y="0"/>
                </a:moveTo>
                <a:lnTo>
                  <a:pt x="2935059" y="0"/>
                </a:lnTo>
                <a:lnTo>
                  <a:pt x="2935059" y="2369718"/>
                </a:lnTo>
                <a:lnTo>
                  <a:pt x="0" y="2369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907181" y="6073307"/>
            <a:ext cx="4380819" cy="5390270"/>
          </a:xfrm>
          <a:custGeom>
            <a:avLst/>
            <a:gdLst/>
            <a:ahLst/>
            <a:cxnLst/>
            <a:rect r="r" b="b" t="t" l="l"/>
            <a:pathLst>
              <a:path h="5390270" w="4380819">
                <a:moveTo>
                  <a:pt x="0" y="0"/>
                </a:moveTo>
                <a:lnTo>
                  <a:pt x="4380819" y="0"/>
                </a:lnTo>
                <a:lnTo>
                  <a:pt x="4380819" y="5390270"/>
                </a:lnTo>
                <a:lnTo>
                  <a:pt x="0" y="53902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687125" y="8431225"/>
            <a:ext cx="1754640" cy="1295243"/>
          </a:xfrm>
          <a:custGeom>
            <a:avLst/>
            <a:gdLst/>
            <a:ahLst/>
            <a:cxnLst/>
            <a:rect r="r" b="b" t="t" l="l"/>
            <a:pathLst>
              <a:path h="1295243" w="1754640">
                <a:moveTo>
                  <a:pt x="0" y="0"/>
                </a:moveTo>
                <a:lnTo>
                  <a:pt x="1754640" y="0"/>
                </a:lnTo>
                <a:lnTo>
                  <a:pt x="1754640" y="1295244"/>
                </a:lnTo>
                <a:lnTo>
                  <a:pt x="0" y="12952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-508525"/>
            <a:ext cx="18288000" cy="2612220"/>
            <a:chOff x="0" y="0"/>
            <a:chExt cx="4816593" cy="687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87992"/>
            </a:xfrm>
            <a:custGeom>
              <a:avLst/>
              <a:gdLst/>
              <a:ahLst/>
              <a:cxnLst/>
              <a:rect r="r" b="b" t="t" l="l"/>
              <a:pathLst>
                <a:path h="6879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7992"/>
                  </a:lnTo>
                  <a:lnTo>
                    <a:pt x="0" y="687992"/>
                  </a:lnTo>
                  <a:close/>
                </a:path>
              </a:pathLst>
            </a:custGeom>
            <a:solidFill>
              <a:srgbClr val="A1D4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687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9271" y="297838"/>
            <a:ext cx="16230600" cy="1805858"/>
            <a:chOff x="0" y="0"/>
            <a:chExt cx="4274726" cy="4756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475617"/>
            </a:xfrm>
            <a:custGeom>
              <a:avLst/>
              <a:gdLst/>
              <a:ahLst/>
              <a:cxnLst/>
              <a:rect r="r" b="b" t="t" l="l"/>
              <a:pathLst>
                <a:path h="47561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475617"/>
                  </a:lnTo>
                  <a:lnTo>
                    <a:pt x="0" y="475617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274726" cy="485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4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Diagnostic tests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8842" y="2103695"/>
            <a:ext cx="16230600" cy="7976894"/>
            <a:chOff x="0" y="0"/>
            <a:chExt cx="4274726" cy="21009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00911"/>
            </a:xfrm>
            <a:custGeom>
              <a:avLst/>
              <a:gdLst/>
              <a:ahLst/>
              <a:cxnLst/>
              <a:rect r="r" b="b" t="t" l="l"/>
              <a:pathLst>
                <a:path h="210091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00911"/>
                  </a:lnTo>
                  <a:lnTo>
                    <a:pt x="0" y="21009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4274726" cy="2100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</a:p>
            <a:p>
              <a:pPr algn="just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8215218" y="2103695"/>
            <a:ext cx="0" cy="7976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091979" y="6636058"/>
            <a:ext cx="2334642" cy="3650942"/>
          </a:xfrm>
          <a:custGeom>
            <a:avLst/>
            <a:gdLst/>
            <a:ahLst/>
            <a:cxnLst/>
            <a:rect r="r" b="b" t="t" l="l"/>
            <a:pathLst>
              <a:path h="3650942" w="2334642">
                <a:moveTo>
                  <a:pt x="0" y="0"/>
                </a:moveTo>
                <a:lnTo>
                  <a:pt x="2334642" y="0"/>
                </a:lnTo>
                <a:lnTo>
                  <a:pt x="2334642" y="3650942"/>
                </a:lnTo>
                <a:lnTo>
                  <a:pt x="0" y="3650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97588" y="5671881"/>
            <a:ext cx="2374160" cy="4114800"/>
          </a:xfrm>
          <a:custGeom>
            <a:avLst/>
            <a:gdLst/>
            <a:ahLst/>
            <a:cxnLst/>
            <a:rect r="r" b="b" t="t" l="l"/>
            <a:pathLst>
              <a:path h="4114800" w="2374160">
                <a:moveTo>
                  <a:pt x="0" y="0"/>
                </a:moveTo>
                <a:lnTo>
                  <a:pt x="2374159" y="0"/>
                </a:lnTo>
                <a:lnTo>
                  <a:pt x="23741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6189" y="2734170"/>
            <a:ext cx="2971873" cy="1044928"/>
          </a:xfrm>
          <a:custGeom>
            <a:avLst/>
            <a:gdLst/>
            <a:ahLst/>
            <a:cxnLst/>
            <a:rect r="r" b="b" t="t" l="l"/>
            <a:pathLst>
              <a:path h="1044928" w="2971873">
                <a:moveTo>
                  <a:pt x="0" y="0"/>
                </a:moveTo>
                <a:lnTo>
                  <a:pt x="2971873" y="0"/>
                </a:lnTo>
                <a:lnTo>
                  <a:pt x="2971873" y="1044928"/>
                </a:lnTo>
                <a:lnTo>
                  <a:pt x="0" y="1044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71" r="0" b="-457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558689" y="2734170"/>
            <a:ext cx="4769729" cy="1044928"/>
          </a:xfrm>
          <a:custGeom>
            <a:avLst/>
            <a:gdLst/>
            <a:ahLst/>
            <a:cxnLst/>
            <a:rect r="r" b="b" t="t" l="l"/>
            <a:pathLst>
              <a:path h="1044928" w="4769729">
                <a:moveTo>
                  <a:pt x="0" y="0"/>
                </a:moveTo>
                <a:lnTo>
                  <a:pt x="4769730" y="0"/>
                </a:lnTo>
                <a:lnTo>
                  <a:pt x="4769730" y="1044928"/>
                </a:lnTo>
                <a:lnTo>
                  <a:pt x="0" y="1044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7584" r="0" b="-3758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30964" y="2868991"/>
            <a:ext cx="6545558" cy="691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Chest X-ray:</a:t>
            </a:r>
          </a:p>
          <a:p>
            <a:pPr algn="l">
              <a:lnSpc>
                <a:spcPts val="5040"/>
              </a:lnSpc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used in primary and tertiary setting</a:t>
            </a:r>
          </a:p>
          <a:p>
            <a:pPr algn="l">
              <a:lnSpc>
                <a:spcPts val="5040"/>
              </a:lnSpc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non- invasive</a:t>
            </a:r>
          </a:p>
          <a:p>
            <a:pPr algn="l">
              <a:lnSpc>
                <a:spcPts val="5040"/>
              </a:lnSpc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affordable</a:t>
            </a:r>
          </a:p>
          <a:p>
            <a:pPr algn="l">
              <a:lnSpc>
                <a:spcPts val="7279"/>
              </a:lnSpc>
            </a:pPr>
          </a:p>
          <a:p>
            <a:pPr algn="l">
              <a:lnSpc>
                <a:spcPts val="727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692039" y="2868991"/>
            <a:ext cx="8280099" cy="636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Gene Xpert MTB/RIF:</a:t>
            </a:r>
          </a:p>
          <a:p>
            <a:pPr algn="l">
              <a:lnSpc>
                <a:spcPts val="5040"/>
              </a:lnSpc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detects DNA of Mycobacterium Tuberculosis</a:t>
            </a:r>
          </a:p>
          <a:p>
            <a:pPr algn="l">
              <a:lnSpc>
                <a:spcPts val="5040"/>
              </a:lnSpc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detects resistance to Rifampicin</a:t>
            </a:r>
          </a:p>
          <a:p>
            <a:pPr algn="l">
              <a:lnSpc>
                <a:spcPts val="5040"/>
              </a:lnSpc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results in less than 2 hours</a:t>
            </a:r>
          </a:p>
          <a:p>
            <a:pPr algn="l">
              <a:lnSpc>
                <a:spcPts val="5040"/>
              </a:lnSpc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readily available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124421" cy="7037529"/>
            <a:chOff x="0" y="0"/>
            <a:chExt cx="1086267" cy="18535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6267" cy="1853505"/>
            </a:xfrm>
            <a:custGeom>
              <a:avLst/>
              <a:gdLst/>
              <a:ahLst/>
              <a:cxnLst/>
              <a:rect r="r" b="b" t="t" l="l"/>
              <a:pathLst>
                <a:path h="1853505" w="1086267">
                  <a:moveTo>
                    <a:pt x="0" y="0"/>
                  </a:moveTo>
                  <a:lnTo>
                    <a:pt x="1086267" y="0"/>
                  </a:lnTo>
                  <a:lnTo>
                    <a:pt x="1086267" y="1853505"/>
                  </a:lnTo>
                  <a:lnTo>
                    <a:pt x="0" y="1853505"/>
                  </a:lnTo>
                  <a:close/>
                </a:path>
              </a:pathLst>
            </a:custGeom>
            <a:solidFill>
              <a:srgbClr val="A1D4E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86267" cy="1853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037529"/>
            <a:ext cx="4124421" cy="3249471"/>
            <a:chOff x="0" y="0"/>
            <a:chExt cx="1086267" cy="8558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6267" cy="855828"/>
            </a:xfrm>
            <a:custGeom>
              <a:avLst/>
              <a:gdLst/>
              <a:ahLst/>
              <a:cxnLst/>
              <a:rect r="r" b="b" t="t" l="l"/>
              <a:pathLst>
                <a:path h="855828" w="1086267">
                  <a:moveTo>
                    <a:pt x="0" y="0"/>
                  </a:moveTo>
                  <a:lnTo>
                    <a:pt x="1086267" y="0"/>
                  </a:lnTo>
                  <a:lnTo>
                    <a:pt x="1086267" y="855828"/>
                  </a:lnTo>
                  <a:lnTo>
                    <a:pt x="0" y="855828"/>
                  </a:lnTo>
                  <a:close/>
                </a:path>
              </a:pathLst>
            </a:custGeom>
            <a:solidFill>
              <a:srgbClr val="F1B75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86267" cy="85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44538" y="4131315"/>
            <a:ext cx="12358321" cy="5750696"/>
            <a:chOff x="0" y="0"/>
            <a:chExt cx="3254866" cy="1514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54866" cy="1514587"/>
            </a:xfrm>
            <a:custGeom>
              <a:avLst/>
              <a:gdLst/>
              <a:ahLst/>
              <a:cxnLst/>
              <a:rect r="r" b="b" t="t" l="l"/>
              <a:pathLst>
                <a:path h="1514587" w="3254866">
                  <a:moveTo>
                    <a:pt x="0" y="0"/>
                  </a:moveTo>
                  <a:lnTo>
                    <a:pt x="3254866" y="0"/>
                  </a:lnTo>
                  <a:lnTo>
                    <a:pt x="3254866" y="1514587"/>
                  </a:lnTo>
                  <a:lnTo>
                    <a:pt x="0" y="15145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254866" cy="1514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       South Africa= one of highest TB burdens globally 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       Detects the DNA of Mycobacterium Tuberculosis 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       Detects resistance to TB-drug, Rifmapicin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       Can detect extrapulmonary TB as well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44538" y="2774892"/>
            <a:ext cx="12358321" cy="1356423"/>
            <a:chOff x="0" y="0"/>
            <a:chExt cx="3254866" cy="3572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4866" cy="357247"/>
            </a:xfrm>
            <a:custGeom>
              <a:avLst/>
              <a:gdLst/>
              <a:ahLst/>
              <a:cxnLst/>
              <a:rect r="r" b="b" t="t" l="l"/>
              <a:pathLst>
                <a:path h="357247" w="3254866">
                  <a:moveTo>
                    <a:pt x="0" y="0"/>
                  </a:moveTo>
                  <a:lnTo>
                    <a:pt x="3254866" y="0"/>
                  </a:lnTo>
                  <a:lnTo>
                    <a:pt x="3254866" y="357247"/>
                  </a:lnTo>
                  <a:lnTo>
                    <a:pt x="0" y="357247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3254866" cy="34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GeneXpert MTB/RIF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6951215">
            <a:off x="14880906" y="-2658066"/>
            <a:ext cx="2210152" cy="6364313"/>
          </a:xfrm>
          <a:custGeom>
            <a:avLst/>
            <a:gdLst/>
            <a:ahLst/>
            <a:cxnLst/>
            <a:rect r="r" b="b" t="t" l="l"/>
            <a:pathLst>
              <a:path h="6364313" w="2210152">
                <a:moveTo>
                  <a:pt x="0" y="0"/>
                </a:moveTo>
                <a:lnTo>
                  <a:pt x="2210152" y="0"/>
                </a:lnTo>
                <a:lnTo>
                  <a:pt x="2210152" y="6364313"/>
                </a:lnTo>
                <a:lnTo>
                  <a:pt x="0" y="6364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11437" y="6267050"/>
            <a:ext cx="3273183" cy="3614961"/>
          </a:xfrm>
          <a:custGeom>
            <a:avLst/>
            <a:gdLst/>
            <a:ahLst/>
            <a:cxnLst/>
            <a:rect r="r" b="b" t="t" l="l"/>
            <a:pathLst>
              <a:path h="3614961" w="3273183">
                <a:moveTo>
                  <a:pt x="0" y="0"/>
                </a:moveTo>
                <a:lnTo>
                  <a:pt x="3273183" y="0"/>
                </a:lnTo>
                <a:lnTo>
                  <a:pt x="3273183" y="3614961"/>
                </a:lnTo>
                <a:lnTo>
                  <a:pt x="0" y="3614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936901">
            <a:off x="15127086" y="6777517"/>
            <a:ext cx="2680832" cy="1036997"/>
            <a:chOff x="0" y="0"/>
            <a:chExt cx="706063" cy="2731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6063" cy="273118"/>
            </a:xfrm>
            <a:custGeom>
              <a:avLst/>
              <a:gdLst/>
              <a:ahLst/>
              <a:cxnLst/>
              <a:rect r="r" b="b" t="t" l="l"/>
              <a:pathLst>
                <a:path h="273118" w="706063">
                  <a:moveTo>
                    <a:pt x="17327" y="0"/>
                  </a:moveTo>
                  <a:lnTo>
                    <a:pt x="688736" y="0"/>
                  </a:lnTo>
                  <a:cubicBezTo>
                    <a:pt x="693331" y="0"/>
                    <a:pt x="697738" y="1826"/>
                    <a:pt x="700988" y="5075"/>
                  </a:cubicBezTo>
                  <a:cubicBezTo>
                    <a:pt x="704237" y="8325"/>
                    <a:pt x="706063" y="12732"/>
                    <a:pt x="706063" y="17327"/>
                  </a:cubicBezTo>
                  <a:lnTo>
                    <a:pt x="706063" y="255791"/>
                  </a:lnTo>
                  <a:cubicBezTo>
                    <a:pt x="706063" y="260387"/>
                    <a:pt x="704237" y="264794"/>
                    <a:pt x="700988" y="268043"/>
                  </a:cubicBezTo>
                  <a:cubicBezTo>
                    <a:pt x="697738" y="271293"/>
                    <a:pt x="693331" y="273118"/>
                    <a:pt x="688736" y="273118"/>
                  </a:cubicBezTo>
                  <a:lnTo>
                    <a:pt x="17327" y="273118"/>
                  </a:lnTo>
                  <a:cubicBezTo>
                    <a:pt x="7758" y="273118"/>
                    <a:pt x="0" y="265361"/>
                    <a:pt x="0" y="255791"/>
                  </a:cubicBezTo>
                  <a:lnTo>
                    <a:pt x="0" y="17327"/>
                  </a:lnTo>
                  <a:cubicBezTo>
                    <a:pt x="0" y="12732"/>
                    <a:pt x="1826" y="8325"/>
                    <a:pt x="5075" y="5075"/>
                  </a:cubicBezTo>
                  <a:cubicBezTo>
                    <a:pt x="8325" y="1826"/>
                    <a:pt x="12732" y="0"/>
                    <a:pt x="17327" y="0"/>
                  </a:cubicBezTo>
                  <a:close/>
                </a:path>
              </a:pathLst>
            </a:custGeom>
            <a:solidFill>
              <a:srgbClr val="44413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06063" cy="273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7512297"/>
            <a:ext cx="2141030" cy="2299934"/>
          </a:xfrm>
          <a:custGeom>
            <a:avLst/>
            <a:gdLst/>
            <a:ahLst/>
            <a:cxnLst/>
            <a:rect r="r" b="b" t="t" l="l"/>
            <a:pathLst>
              <a:path h="2299934" w="2141030">
                <a:moveTo>
                  <a:pt x="0" y="0"/>
                </a:moveTo>
                <a:lnTo>
                  <a:pt x="2141030" y="0"/>
                </a:lnTo>
                <a:lnTo>
                  <a:pt x="2141030" y="2299934"/>
                </a:lnTo>
                <a:lnTo>
                  <a:pt x="0" y="2299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4716915" y="806598"/>
            <a:ext cx="1754640" cy="1295243"/>
          </a:xfrm>
          <a:custGeom>
            <a:avLst/>
            <a:gdLst/>
            <a:ahLst/>
            <a:cxnLst/>
            <a:rect r="r" b="b" t="t" l="l"/>
            <a:pathLst>
              <a:path h="1295243" w="1754640">
                <a:moveTo>
                  <a:pt x="1754640" y="0"/>
                </a:moveTo>
                <a:lnTo>
                  <a:pt x="0" y="0"/>
                </a:lnTo>
                <a:lnTo>
                  <a:pt x="0" y="1295243"/>
                </a:lnTo>
                <a:lnTo>
                  <a:pt x="1754640" y="1295243"/>
                </a:lnTo>
                <a:lnTo>
                  <a:pt x="175464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40239" y="0"/>
            <a:ext cx="2443942" cy="7037529"/>
          </a:xfrm>
          <a:custGeom>
            <a:avLst/>
            <a:gdLst/>
            <a:ahLst/>
            <a:cxnLst/>
            <a:rect r="r" b="b" t="t" l="l"/>
            <a:pathLst>
              <a:path h="7037529" w="2443942">
                <a:moveTo>
                  <a:pt x="0" y="0"/>
                </a:moveTo>
                <a:lnTo>
                  <a:pt x="2443942" y="0"/>
                </a:lnTo>
                <a:lnTo>
                  <a:pt x="2443942" y="7037529"/>
                </a:lnTo>
                <a:lnTo>
                  <a:pt x="0" y="70375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471555" y="933450"/>
            <a:ext cx="833988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Diagnostic test described </a:t>
            </a:r>
          </a:p>
        </p:txBody>
      </p:sp>
      <p:sp>
        <p:nvSpPr>
          <p:cNvPr name="TextBox 23" id="23"/>
          <p:cNvSpPr txBox="true"/>
          <p:nvPr/>
        </p:nvSpPr>
        <p:spPr>
          <a:xfrm rot="-979105">
            <a:off x="13546017" y="6806761"/>
            <a:ext cx="577726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E7F1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497885" y="2915465"/>
            <a:ext cx="38482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79816" y="5228111"/>
            <a:ext cx="9310948" cy="1049598"/>
          </a:xfrm>
          <a:custGeom>
            <a:avLst/>
            <a:gdLst/>
            <a:ahLst/>
            <a:cxnLst/>
            <a:rect r="r" b="b" t="t" l="l"/>
            <a:pathLst>
              <a:path h="1049598" w="9310948">
                <a:moveTo>
                  <a:pt x="0" y="0"/>
                </a:moveTo>
                <a:lnTo>
                  <a:pt x="9310948" y="0"/>
                </a:lnTo>
                <a:lnTo>
                  <a:pt x="9310948" y="1049598"/>
                </a:lnTo>
                <a:lnTo>
                  <a:pt x="0" y="1049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6225269" y="4345144"/>
            <a:ext cx="240995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371706" y="2312320"/>
            <a:ext cx="8732919" cy="8967180"/>
            <a:chOff x="0" y="0"/>
            <a:chExt cx="812800" cy="834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34655"/>
            </a:xfrm>
            <a:custGeom>
              <a:avLst/>
              <a:gdLst/>
              <a:ahLst/>
              <a:cxnLst/>
              <a:rect r="r" b="b" t="t" l="l"/>
              <a:pathLst>
                <a:path h="834655" w="812800">
                  <a:moveTo>
                    <a:pt x="812800" y="15071"/>
                  </a:moveTo>
                  <a:lnTo>
                    <a:pt x="812800" y="819584"/>
                  </a:lnTo>
                  <a:cubicBezTo>
                    <a:pt x="812800" y="827908"/>
                    <a:pt x="806053" y="834655"/>
                    <a:pt x="797729" y="834655"/>
                  </a:cubicBezTo>
                  <a:lnTo>
                    <a:pt x="15071" y="834655"/>
                  </a:lnTo>
                  <a:cubicBezTo>
                    <a:pt x="11074" y="834655"/>
                    <a:pt x="7240" y="833067"/>
                    <a:pt x="4414" y="830241"/>
                  </a:cubicBezTo>
                  <a:cubicBezTo>
                    <a:pt x="1588" y="827415"/>
                    <a:pt x="0" y="823581"/>
                    <a:pt x="0" y="819584"/>
                  </a:cubicBezTo>
                  <a:lnTo>
                    <a:pt x="0" y="15071"/>
                  </a:lnTo>
                  <a:cubicBezTo>
                    <a:pt x="0" y="11074"/>
                    <a:pt x="1588" y="7240"/>
                    <a:pt x="4414" y="4414"/>
                  </a:cubicBezTo>
                  <a:cubicBezTo>
                    <a:pt x="7240" y="1588"/>
                    <a:pt x="11074" y="0"/>
                    <a:pt x="15071" y="0"/>
                  </a:cubicBezTo>
                  <a:lnTo>
                    <a:pt x="797729" y="0"/>
                  </a:lnTo>
                  <a:cubicBezTo>
                    <a:pt x="801726" y="0"/>
                    <a:pt x="805560" y="1588"/>
                    <a:pt x="808386" y="4414"/>
                  </a:cubicBezTo>
                  <a:cubicBezTo>
                    <a:pt x="811212" y="7240"/>
                    <a:pt x="812800" y="11074"/>
                    <a:pt x="812800" y="15071"/>
                  </a:cubicBezTo>
                  <a:close/>
                </a:path>
              </a:pathLst>
            </a:custGeom>
            <a:solidFill>
              <a:srgbClr val="A1D4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812800" cy="834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30554" y="555393"/>
            <a:ext cx="7980739" cy="1044928"/>
          </a:xfrm>
          <a:custGeom>
            <a:avLst/>
            <a:gdLst/>
            <a:ahLst/>
            <a:cxnLst/>
            <a:rect r="r" b="b" t="t" l="l"/>
            <a:pathLst>
              <a:path h="1044928" w="7980739">
                <a:moveTo>
                  <a:pt x="0" y="0"/>
                </a:moveTo>
                <a:lnTo>
                  <a:pt x="7980739" y="0"/>
                </a:lnTo>
                <a:lnTo>
                  <a:pt x="7980739" y="1044928"/>
                </a:lnTo>
                <a:lnTo>
                  <a:pt x="0" y="1044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6546" r="0" b="-9654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16488" y="6768247"/>
            <a:ext cx="3910606" cy="3348457"/>
          </a:xfrm>
          <a:custGeom>
            <a:avLst/>
            <a:gdLst/>
            <a:ahLst/>
            <a:cxnLst/>
            <a:rect r="r" b="b" t="t" l="l"/>
            <a:pathLst>
              <a:path h="3348457" w="3910606">
                <a:moveTo>
                  <a:pt x="0" y="0"/>
                </a:moveTo>
                <a:lnTo>
                  <a:pt x="3910607" y="0"/>
                </a:lnTo>
                <a:lnTo>
                  <a:pt x="3910607" y="3348456"/>
                </a:lnTo>
                <a:lnTo>
                  <a:pt x="0" y="334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0020" y="6596797"/>
            <a:ext cx="4741185" cy="3917404"/>
          </a:xfrm>
          <a:custGeom>
            <a:avLst/>
            <a:gdLst/>
            <a:ahLst/>
            <a:cxnLst/>
            <a:rect r="r" b="b" t="t" l="l"/>
            <a:pathLst>
              <a:path h="3917404" w="4741185">
                <a:moveTo>
                  <a:pt x="0" y="0"/>
                </a:moveTo>
                <a:lnTo>
                  <a:pt x="4741184" y="0"/>
                </a:lnTo>
                <a:lnTo>
                  <a:pt x="4741184" y="3917403"/>
                </a:lnTo>
                <a:lnTo>
                  <a:pt x="0" y="39174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9816" y="2265249"/>
            <a:ext cx="3767573" cy="1165860"/>
          </a:xfrm>
          <a:custGeom>
            <a:avLst/>
            <a:gdLst/>
            <a:ahLst/>
            <a:cxnLst/>
            <a:rect r="r" b="b" t="t" l="l"/>
            <a:pathLst>
              <a:path h="1165860" w="3767573">
                <a:moveTo>
                  <a:pt x="0" y="0"/>
                </a:moveTo>
                <a:lnTo>
                  <a:pt x="3767573" y="0"/>
                </a:lnTo>
                <a:lnTo>
                  <a:pt x="3767573" y="1165860"/>
                </a:lnTo>
                <a:lnTo>
                  <a:pt x="0" y="11658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1373" t="0" r="-1770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716488" y="2284299"/>
            <a:ext cx="34275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Number of cases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9251" y="2255724"/>
            <a:ext cx="4688635" cy="84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7"/>
              </a:lnSpc>
            </a:pPr>
            <a:r>
              <a:rPr lang="en-US" sz="497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Prevalance  =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529" y="4937599"/>
            <a:ext cx="827871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Prevalance of TB in Khayelithsha = 0,86%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78379" y="2916076"/>
            <a:ext cx="5719018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Population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18724" y="537527"/>
            <a:ext cx="79807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F3A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Pretest probability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52536" y="3331049"/>
            <a:ext cx="7435464" cy="55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Pretest probability influenced by: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prevelance of TB in Khayelitsha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clinical symptoms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factors like HIV positive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history of contact with TB infected person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5290" y="3816189"/>
            <a:ext cx="36239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=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78379" y="4345144"/>
            <a:ext cx="571901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499931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78379" y="3762214"/>
            <a:ext cx="571901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4305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38306"/>
            <a:chOff x="0" y="0"/>
            <a:chExt cx="4816593" cy="642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2187"/>
            </a:xfrm>
            <a:custGeom>
              <a:avLst/>
              <a:gdLst/>
              <a:ahLst/>
              <a:cxnLst/>
              <a:rect r="r" b="b" t="t" l="l"/>
              <a:pathLst>
                <a:path h="64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2187"/>
                  </a:lnTo>
                  <a:lnTo>
                    <a:pt x="0" y="642187"/>
                  </a:lnTo>
                  <a:close/>
                </a:path>
              </a:pathLst>
            </a:custGeom>
            <a:solidFill>
              <a:srgbClr val="A1D4E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642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1007" y="1219153"/>
            <a:ext cx="13966904" cy="8629082"/>
          </a:xfrm>
          <a:custGeom>
            <a:avLst/>
            <a:gdLst/>
            <a:ahLst/>
            <a:cxnLst/>
            <a:rect r="r" b="b" t="t" l="l"/>
            <a:pathLst>
              <a:path h="8629082" w="13966904">
                <a:moveTo>
                  <a:pt x="0" y="0"/>
                </a:moveTo>
                <a:lnTo>
                  <a:pt x="13966904" y="0"/>
                </a:lnTo>
                <a:lnTo>
                  <a:pt x="13966904" y="8629081"/>
                </a:lnTo>
                <a:lnTo>
                  <a:pt x="0" y="8629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07" r="0" b="-3870"/>
            </a:stretch>
          </a:blipFill>
          <a:ln w="85725" cap="sq">
            <a:solidFill>
              <a:srgbClr val="F4956F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789674" y="110313"/>
            <a:ext cx="7980739" cy="918387"/>
          </a:xfrm>
          <a:custGeom>
            <a:avLst/>
            <a:gdLst/>
            <a:ahLst/>
            <a:cxnLst/>
            <a:rect r="r" b="b" t="t" l="l"/>
            <a:pathLst>
              <a:path h="918387" w="7980739">
                <a:moveTo>
                  <a:pt x="0" y="0"/>
                </a:moveTo>
                <a:lnTo>
                  <a:pt x="7980739" y="0"/>
                </a:lnTo>
                <a:lnTo>
                  <a:pt x="7980739" y="918387"/>
                </a:lnTo>
                <a:lnTo>
                  <a:pt x="0" y="918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9849" r="0" b="-12362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27734" y="5143500"/>
            <a:ext cx="571333" cy="618569"/>
          </a:xfrm>
          <a:custGeom>
            <a:avLst/>
            <a:gdLst/>
            <a:ahLst/>
            <a:cxnLst/>
            <a:rect r="r" b="b" t="t" l="l"/>
            <a:pathLst>
              <a:path h="618569" w="571333">
                <a:moveTo>
                  <a:pt x="0" y="0"/>
                </a:moveTo>
                <a:lnTo>
                  <a:pt x="571333" y="0"/>
                </a:lnTo>
                <a:lnTo>
                  <a:pt x="571333" y="618569"/>
                </a:lnTo>
                <a:lnTo>
                  <a:pt x="0" y="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13548" y="5933519"/>
            <a:ext cx="571333" cy="618569"/>
          </a:xfrm>
          <a:custGeom>
            <a:avLst/>
            <a:gdLst/>
            <a:ahLst/>
            <a:cxnLst/>
            <a:rect r="r" b="b" t="t" l="l"/>
            <a:pathLst>
              <a:path h="618569" w="571333">
                <a:moveTo>
                  <a:pt x="0" y="0"/>
                </a:moveTo>
                <a:lnTo>
                  <a:pt x="571332" y="0"/>
                </a:lnTo>
                <a:lnTo>
                  <a:pt x="571332" y="618568"/>
                </a:lnTo>
                <a:lnTo>
                  <a:pt x="0" y="618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27734" y="6896237"/>
            <a:ext cx="571333" cy="618569"/>
          </a:xfrm>
          <a:custGeom>
            <a:avLst/>
            <a:gdLst/>
            <a:ahLst/>
            <a:cxnLst/>
            <a:rect r="r" b="b" t="t" l="l"/>
            <a:pathLst>
              <a:path h="618569" w="571333">
                <a:moveTo>
                  <a:pt x="0" y="0"/>
                </a:moveTo>
                <a:lnTo>
                  <a:pt x="571333" y="0"/>
                </a:lnTo>
                <a:lnTo>
                  <a:pt x="571333" y="618569"/>
                </a:lnTo>
                <a:lnTo>
                  <a:pt x="0" y="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50188" y="3345832"/>
            <a:ext cx="1182912" cy="1182912"/>
          </a:xfrm>
          <a:custGeom>
            <a:avLst/>
            <a:gdLst/>
            <a:ahLst/>
            <a:cxnLst/>
            <a:rect r="r" b="b" t="t" l="l"/>
            <a:pathLst>
              <a:path h="1182912" w="1182912">
                <a:moveTo>
                  <a:pt x="0" y="0"/>
                </a:moveTo>
                <a:lnTo>
                  <a:pt x="1182912" y="0"/>
                </a:lnTo>
                <a:lnTo>
                  <a:pt x="1182912" y="1182911"/>
                </a:lnTo>
                <a:lnTo>
                  <a:pt x="0" y="1182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430287">
            <a:off x="15038929" y="-311924"/>
            <a:ext cx="906659" cy="2844422"/>
          </a:xfrm>
          <a:custGeom>
            <a:avLst/>
            <a:gdLst/>
            <a:ahLst/>
            <a:cxnLst/>
            <a:rect r="r" b="b" t="t" l="l"/>
            <a:pathLst>
              <a:path h="2844422" w="906659">
                <a:moveTo>
                  <a:pt x="0" y="0"/>
                </a:moveTo>
                <a:lnTo>
                  <a:pt x="906659" y="0"/>
                </a:lnTo>
                <a:lnTo>
                  <a:pt x="906659" y="2844421"/>
                </a:lnTo>
                <a:lnTo>
                  <a:pt x="0" y="2844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89674" y="15063"/>
            <a:ext cx="79807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F3A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Pretest probability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24402" y="1449204"/>
            <a:ext cx="59331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 your patient’s probability of TB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95288" y="2538462"/>
            <a:ext cx="3892712" cy="160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Score for Anna:</a:t>
            </a:r>
          </a:p>
          <a:p>
            <a:pPr algn="ctr">
              <a:lnSpc>
                <a:spcPts val="2844"/>
              </a:lnSpc>
            </a:pPr>
          </a:p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  <a:r>
              <a:rPr lang="en-US" sz="3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70517" y="5069835"/>
            <a:ext cx="2672209" cy="226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3"/>
              </a:lnSpc>
            </a:pPr>
            <a:r>
              <a:rPr lang="en-US" sz="313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loss of weight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4393"/>
              </a:lnSpc>
            </a:pPr>
            <a:r>
              <a:rPr lang="en-US" sz="313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cough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4393"/>
              </a:lnSpc>
            </a:pPr>
            <a:r>
              <a:rPr lang="en-US" sz="313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night sweats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826514"/>
            <a:chOff x="0" y="0"/>
            <a:chExt cx="4816593" cy="12711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271181"/>
            </a:xfrm>
            <a:custGeom>
              <a:avLst/>
              <a:gdLst/>
              <a:ahLst/>
              <a:cxnLst/>
              <a:rect r="r" b="b" t="t" l="l"/>
              <a:pathLst>
                <a:path h="127118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71181"/>
                  </a:lnTo>
                  <a:lnTo>
                    <a:pt x="0" y="1271181"/>
                  </a:lnTo>
                  <a:close/>
                </a:path>
              </a:pathLst>
            </a:custGeom>
            <a:solidFill>
              <a:srgbClr val="A1D4E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127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87926" y="3329155"/>
            <a:ext cx="12565685" cy="6134446"/>
            <a:chOff x="0" y="0"/>
            <a:chExt cx="3309481" cy="1615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9481" cy="1615657"/>
            </a:xfrm>
            <a:custGeom>
              <a:avLst/>
              <a:gdLst/>
              <a:ahLst/>
              <a:cxnLst/>
              <a:rect r="r" b="b" t="t" l="l"/>
              <a:pathLst>
                <a:path h="1615657" w="3309481">
                  <a:moveTo>
                    <a:pt x="14787" y="0"/>
                  </a:moveTo>
                  <a:lnTo>
                    <a:pt x="3294694" y="0"/>
                  </a:lnTo>
                  <a:cubicBezTo>
                    <a:pt x="3302861" y="0"/>
                    <a:pt x="3309481" y="6620"/>
                    <a:pt x="3309481" y="14787"/>
                  </a:cubicBezTo>
                  <a:lnTo>
                    <a:pt x="3309481" y="1600870"/>
                  </a:lnTo>
                  <a:cubicBezTo>
                    <a:pt x="3309481" y="1604791"/>
                    <a:pt x="3307923" y="1608552"/>
                    <a:pt x="3305150" y="1611326"/>
                  </a:cubicBezTo>
                  <a:cubicBezTo>
                    <a:pt x="3302377" y="1614099"/>
                    <a:pt x="3298616" y="1615657"/>
                    <a:pt x="3294694" y="1615657"/>
                  </a:cubicBezTo>
                  <a:lnTo>
                    <a:pt x="14787" y="1615657"/>
                  </a:lnTo>
                  <a:cubicBezTo>
                    <a:pt x="6620" y="1615657"/>
                    <a:pt x="0" y="1609036"/>
                    <a:pt x="0" y="1600870"/>
                  </a:cubicBezTo>
                  <a:lnTo>
                    <a:pt x="0" y="14787"/>
                  </a:lnTo>
                  <a:cubicBezTo>
                    <a:pt x="0" y="6620"/>
                    <a:pt x="6620" y="0"/>
                    <a:pt x="147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309481" cy="1615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87926" y="1497359"/>
            <a:ext cx="12565685" cy="2633192"/>
            <a:chOff x="0" y="0"/>
            <a:chExt cx="3309481" cy="6935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9481" cy="693516"/>
            </a:xfrm>
            <a:custGeom>
              <a:avLst/>
              <a:gdLst/>
              <a:ahLst/>
              <a:cxnLst/>
              <a:rect r="r" b="b" t="t" l="l"/>
              <a:pathLst>
                <a:path h="693516" w="3309481">
                  <a:moveTo>
                    <a:pt x="11090" y="0"/>
                  </a:moveTo>
                  <a:lnTo>
                    <a:pt x="3298391" y="0"/>
                  </a:lnTo>
                  <a:cubicBezTo>
                    <a:pt x="3301332" y="0"/>
                    <a:pt x="3304153" y="1168"/>
                    <a:pt x="3306233" y="3248"/>
                  </a:cubicBezTo>
                  <a:cubicBezTo>
                    <a:pt x="3308312" y="5328"/>
                    <a:pt x="3309481" y="8149"/>
                    <a:pt x="3309481" y="11090"/>
                  </a:cubicBezTo>
                  <a:lnTo>
                    <a:pt x="3309481" y="682426"/>
                  </a:lnTo>
                  <a:cubicBezTo>
                    <a:pt x="3309481" y="685367"/>
                    <a:pt x="3308312" y="688188"/>
                    <a:pt x="3306233" y="690268"/>
                  </a:cubicBezTo>
                  <a:cubicBezTo>
                    <a:pt x="3304153" y="692347"/>
                    <a:pt x="3301332" y="693516"/>
                    <a:pt x="3298391" y="693516"/>
                  </a:cubicBezTo>
                  <a:lnTo>
                    <a:pt x="11090" y="693516"/>
                  </a:lnTo>
                  <a:cubicBezTo>
                    <a:pt x="8149" y="693516"/>
                    <a:pt x="5328" y="692347"/>
                    <a:pt x="3248" y="690268"/>
                  </a:cubicBezTo>
                  <a:cubicBezTo>
                    <a:pt x="1168" y="688188"/>
                    <a:pt x="0" y="685367"/>
                    <a:pt x="0" y="682426"/>
                  </a:cubicBezTo>
                  <a:lnTo>
                    <a:pt x="0" y="11090"/>
                  </a:lnTo>
                  <a:cubicBezTo>
                    <a:pt x="0" y="8149"/>
                    <a:pt x="1168" y="5328"/>
                    <a:pt x="3248" y="3248"/>
                  </a:cubicBezTo>
                  <a:cubicBezTo>
                    <a:pt x="5328" y="1168"/>
                    <a:pt x="8149" y="0"/>
                    <a:pt x="11090" y="0"/>
                  </a:cubicBez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309481" cy="70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4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Sensitivity and specificity GeneXpert: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523644" y="7506847"/>
            <a:ext cx="764063" cy="1066585"/>
          </a:xfrm>
          <a:custGeom>
            <a:avLst/>
            <a:gdLst/>
            <a:ahLst/>
            <a:cxnLst/>
            <a:rect r="r" b="b" t="t" l="l"/>
            <a:pathLst>
              <a:path h="1066585" w="764063">
                <a:moveTo>
                  <a:pt x="0" y="0"/>
                </a:moveTo>
                <a:lnTo>
                  <a:pt x="764063" y="0"/>
                </a:lnTo>
                <a:lnTo>
                  <a:pt x="764063" y="1066585"/>
                </a:lnTo>
                <a:lnTo>
                  <a:pt x="0" y="106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23644" y="5267917"/>
            <a:ext cx="746931" cy="1042670"/>
          </a:xfrm>
          <a:custGeom>
            <a:avLst/>
            <a:gdLst/>
            <a:ahLst/>
            <a:cxnLst/>
            <a:rect r="r" b="b" t="t" l="l"/>
            <a:pathLst>
              <a:path h="1042670" w="746931">
                <a:moveTo>
                  <a:pt x="0" y="0"/>
                </a:moveTo>
                <a:lnTo>
                  <a:pt x="746931" y="0"/>
                </a:lnTo>
                <a:lnTo>
                  <a:pt x="746931" y="1042670"/>
                </a:lnTo>
                <a:lnTo>
                  <a:pt x="0" y="1042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668856">
            <a:off x="644497" y="311066"/>
            <a:ext cx="3501933" cy="3540557"/>
          </a:xfrm>
          <a:custGeom>
            <a:avLst/>
            <a:gdLst/>
            <a:ahLst/>
            <a:cxnLst/>
            <a:rect r="r" b="b" t="t" l="l"/>
            <a:pathLst>
              <a:path h="3540557" w="3501933">
                <a:moveTo>
                  <a:pt x="0" y="0"/>
                </a:moveTo>
                <a:lnTo>
                  <a:pt x="3501933" y="0"/>
                </a:lnTo>
                <a:lnTo>
                  <a:pt x="3501933" y="3540558"/>
                </a:lnTo>
                <a:lnTo>
                  <a:pt x="0" y="3540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1287" y="702947"/>
            <a:ext cx="2228353" cy="2756796"/>
          </a:xfrm>
          <a:custGeom>
            <a:avLst/>
            <a:gdLst/>
            <a:ahLst/>
            <a:cxnLst/>
            <a:rect r="r" b="b" t="t" l="l"/>
            <a:pathLst>
              <a:path h="2756796" w="2228353">
                <a:moveTo>
                  <a:pt x="0" y="0"/>
                </a:moveTo>
                <a:lnTo>
                  <a:pt x="2228354" y="0"/>
                </a:lnTo>
                <a:lnTo>
                  <a:pt x="2228354" y="2756796"/>
                </a:lnTo>
                <a:lnTo>
                  <a:pt x="0" y="2756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779685" y="5789252"/>
            <a:ext cx="5524909" cy="4114800"/>
          </a:xfrm>
          <a:custGeom>
            <a:avLst/>
            <a:gdLst/>
            <a:ahLst/>
            <a:cxnLst/>
            <a:rect r="r" b="b" t="t" l="l"/>
            <a:pathLst>
              <a:path h="4114800" w="5524909">
                <a:moveTo>
                  <a:pt x="0" y="0"/>
                </a:moveTo>
                <a:lnTo>
                  <a:pt x="5524909" y="0"/>
                </a:lnTo>
                <a:lnTo>
                  <a:pt x="55249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641246" y="-1572525"/>
            <a:ext cx="5432174" cy="4386480"/>
          </a:xfrm>
          <a:custGeom>
            <a:avLst/>
            <a:gdLst/>
            <a:ahLst/>
            <a:cxnLst/>
            <a:rect r="r" b="b" t="t" l="l"/>
            <a:pathLst>
              <a:path h="4386480" w="5432174">
                <a:moveTo>
                  <a:pt x="0" y="0"/>
                </a:moveTo>
                <a:lnTo>
                  <a:pt x="5432174" y="0"/>
                </a:lnTo>
                <a:lnTo>
                  <a:pt x="5432174" y="4386480"/>
                </a:lnTo>
                <a:lnTo>
                  <a:pt x="0" y="4386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096524" y="4648792"/>
            <a:ext cx="968316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Specificity: 98% 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can be used as rule in test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96524" y="6911637"/>
            <a:ext cx="1011964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Sensitivity: 85%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can not be used as rule out test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F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5901" y="2236259"/>
            <a:ext cx="5705891" cy="1172301"/>
          </a:xfrm>
          <a:custGeom>
            <a:avLst/>
            <a:gdLst/>
            <a:ahLst/>
            <a:cxnLst/>
            <a:rect r="r" b="b" t="t" l="l"/>
            <a:pathLst>
              <a:path h="1172301" w="5705891">
                <a:moveTo>
                  <a:pt x="0" y="0"/>
                </a:moveTo>
                <a:lnTo>
                  <a:pt x="5705891" y="0"/>
                </a:lnTo>
                <a:lnTo>
                  <a:pt x="5705891" y="1172301"/>
                </a:lnTo>
                <a:lnTo>
                  <a:pt x="0" y="11723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4656" y="2401377"/>
            <a:ext cx="6224616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Positive likelihood ratio =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90322" y="2192490"/>
            <a:ext cx="2422624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Sensitivity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32765" y="2702049"/>
            <a:ext cx="3373187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1- specificity</a:t>
            </a:r>
          </a:p>
        </p:txBody>
      </p:sp>
      <p:sp>
        <p:nvSpPr>
          <p:cNvPr name="AutoShape 6" id="6"/>
          <p:cNvSpPr/>
          <p:nvPr/>
        </p:nvSpPr>
        <p:spPr>
          <a:xfrm>
            <a:off x="7445615" y="2768724"/>
            <a:ext cx="301160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7568288" y="4144189"/>
            <a:ext cx="1402259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1-0.98</a:t>
            </a:r>
          </a:p>
        </p:txBody>
      </p:sp>
      <p:sp>
        <p:nvSpPr>
          <p:cNvPr name="AutoShape 8" id="8"/>
          <p:cNvSpPr/>
          <p:nvPr/>
        </p:nvSpPr>
        <p:spPr>
          <a:xfrm>
            <a:off x="7747573" y="4210864"/>
            <a:ext cx="12229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023844" y="6290643"/>
            <a:ext cx="5885661" cy="1209236"/>
          </a:xfrm>
          <a:custGeom>
            <a:avLst/>
            <a:gdLst/>
            <a:ahLst/>
            <a:cxnLst/>
            <a:rect r="r" b="b" t="t" l="l"/>
            <a:pathLst>
              <a:path h="1209236" w="5885661">
                <a:moveTo>
                  <a:pt x="0" y="0"/>
                </a:moveTo>
                <a:lnTo>
                  <a:pt x="5885661" y="0"/>
                </a:lnTo>
                <a:lnTo>
                  <a:pt x="5885661" y="1209236"/>
                </a:lnTo>
                <a:lnTo>
                  <a:pt x="0" y="1209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120932" y="6532946"/>
            <a:ext cx="6224616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Negative likelihood ratio =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09505" y="6273844"/>
            <a:ext cx="4440823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1-sensitivity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14745220" y="6903764"/>
            <a:ext cx="27551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4937315" y="7799383"/>
            <a:ext cx="1384697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1-0.85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56424" y="8362627"/>
            <a:ext cx="7505249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0.98</a:t>
            </a:r>
          </a:p>
        </p:txBody>
      </p:sp>
      <p:sp>
        <p:nvSpPr>
          <p:cNvPr name="AutoShape 15" id="15"/>
          <p:cNvSpPr/>
          <p:nvPr/>
        </p:nvSpPr>
        <p:spPr>
          <a:xfrm flipH="true" flipV="true">
            <a:off x="14745220" y="8410252"/>
            <a:ext cx="179070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35535" y="6193624"/>
            <a:ext cx="6902105" cy="2986729"/>
          </a:xfrm>
          <a:custGeom>
            <a:avLst/>
            <a:gdLst/>
            <a:ahLst/>
            <a:cxnLst/>
            <a:rect r="r" b="b" t="t" l="l"/>
            <a:pathLst>
              <a:path h="2986729" w="6902105">
                <a:moveTo>
                  <a:pt x="0" y="0"/>
                </a:moveTo>
                <a:lnTo>
                  <a:pt x="6902105" y="0"/>
                </a:lnTo>
                <a:lnTo>
                  <a:pt x="6902105" y="2986729"/>
                </a:lnTo>
                <a:lnTo>
                  <a:pt x="0" y="2986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123641" y="6912578"/>
            <a:ext cx="5719018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Specificity</a:t>
            </a:r>
          </a:p>
        </p:txBody>
      </p:sp>
      <p:grpSp>
        <p:nvGrpSpPr>
          <p:cNvPr name="Group 18" id="18"/>
          <p:cNvGrpSpPr/>
          <p:nvPr/>
        </p:nvGrpSpPr>
        <p:grpSpPr>
          <a:xfrm rot="-10800000">
            <a:off x="0" y="-3597752"/>
            <a:ext cx="18288000" cy="4826514"/>
            <a:chOff x="0" y="0"/>
            <a:chExt cx="4816593" cy="12711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16592" cy="1271181"/>
            </a:xfrm>
            <a:custGeom>
              <a:avLst/>
              <a:gdLst/>
              <a:ahLst/>
              <a:cxnLst/>
              <a:rect r="r" b="b" t="t" l="l"/>
              <a:pathLst>
                <a:path h="127118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71181"/>
                  </a:lnTo>
                  <a:lnTo>
                    <a:pt x="0" y="1271181"/>
                  </a:lnTo>
                  <a:close/>
                </a:path>
              </a:pathLst>
            </a:custGeom>
            <a:solidFill>
              <a:srgbClr val="A1D4E1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816593" cy="127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542682" y="254121"/>
            <a:ext cx="1605731" cy="1585295"/>
          </a:xfrm>
          <a:custGeom>
            <a:avLst/>
            <a:gdLst/>
            <a:ahLst/>
            <a:cxnLst/>
            <a:rect r="r" b="b" t="t" l="l"/>
            <a:pathLst>
              <a:path h="1585295" w="1605731">
                <a:moveTo>
                  <a:pt x="0" y="0"/>
                </a:moveTo>
                <a:lnTo>
                  <a:pt x="1605732" y="0"/>
                </a:lnTo>
                <a:lnTo>
                  <a:pt x="1605732" y="1585294"/>
                </a:lnTo>
                <a:lnTo>
                  <a:pt x="0" y="1585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true" rot="0">
            <a:off x="11923129" y="2163265"/>
            <a:ext cx="2624877" cy="2634649"/>
          </a:xfrm>
          <a:custGeom>
            <a:avLst/>
            <a:gdLst/>
            <a:ahLst/>
            <a:cxnLst/>
            <a:rect r="r" b="b" t="t" l="l"/>
            <a:pathLst>
              <a:path h="2634649" w="2624877">
                <a:moveTo>
                  <a:pt x="2624877" y="2634650"/>
                </a:moveTo>
                <a:lnTo>
                  <a:pt x="0" y="2634650"/>
                </a:lnTo>
                <a:lnTo>
                  <a:pt x="0" y="0"/>
                </a:lnTo>
                <a:lnTo>
                  <a:pt x="2624877" y="0"/>
                </a:lnTo>
                <a:lnTo>
                  <a:pt x="2624877" y="263465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115925">
            <a:off x="14368285" y="3091268"/>
            <a:ext cx="2747984" cy="2383252"/>
          </a:xfrm>
          <a:custGeom>
            <a:avLst/>
            <a:gdLst/>
            <a:ahLst/>
            <a:cxnLst/>
            <a:rect r="r" b="b" t="t" l="l"/>
            <a:pathLst>
              <a:path h="2383252" w="2747984">
                <a:moveTo>
                  <a:pt x="0" y="0"/>
                </a:moveTo>
                <a:lnTo>
                  <a:pt x="2747984" y="0"/>
                </a:lnTo>
                <a:lnTo>
                  <a:pt x="2747984" y="2383252"/>
                </a:lnTo>
                <a:lnTo>
                  <a:pt x="0" y="23832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400000">
            <a:off x="4074340" y="-954405"/>
            <a:ext cx="3687241" cy="9778522"/>
          </a:xfrm>
          <a:custGeom>
            <a:avLst/>
            <a:gdLst/>
            <a:ahLst/>
            <a:cxnLst/>
            <a:rect r="r" b="b" t="t" l="l"/>
            <a:pathLst>
              <a:path h="9778522" w="3687241">
                <a:moveTo>
                  <a:pt x="0" y="0"/>
                </a:moveTo>
                <a:lnTo>
                  <a:pt x="3687242" y="0"/>
                </a:lnTo>
                <a:lnTo>
                  <a:pt x="3687242" y="9778522"/>
                </a:lnTo>
                <a:lnTo>
                  <a:pt x="0" y="97785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685" t="0" r="-58310" b="0"/>
            </a:stretch>
          </a:blipFill>
          <a:ln w="57150" cap="sq">
            <a:solidFill>
              <a:srgbClr val="004AAD"/>
            </a:solidFill>
            <a:prstDash val="solid"/>
            <a:miter/>
          </a:ln>
        </p:spPr>
      </p:sp>
      <p:sp>
        <p:nvSpPr>
          <p:cNvPr name="TextBox 25" id="25"/>
          <p:cNvSpPr txBox="true"/>
          <p:nvPr/>
        </p:nvSpPr>
        <p:spPr>
          <a:xfrm rot="0">
            <a:off x="14983122" y="9249721"/>
            <a:ext cx="956370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0.15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30379" y="7985771"/>
            <a:ext cx="257324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=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44233" y="9221146"/>
            <a:ext cx="1029616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=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5400000">
            <a:off x="10840913" y="3070653"/>
            <a:ext cx="3869986" cy="9944478"/>
          </a:xfrm>
          <a:custGeom>
            <a:avLst/>
            <a:gdLst/>
            <a:ahLst/>
            <a:cxnLst/>
            <a:rect r="r" b="b" t="t" l="l"/>
            <a:pathLst>
              <a:path h="9944478" w="3869986">
                <a:moveTo>
                  <a:pt x="0" y="0"/>
                </a:moveTo>
                <a:lnTo>
                  <a:pt x="3869986" y="0"/>
                </a:lnTo>
                <a:lnTo>
                  <a:pt x="3869986" y="9944478"/>
                </a:lnTo>
                <a:lnTo>
                  <a:pt x="0" y="99444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182" t="0" r="-57348" b="0"/>
            </a:stretch>
          </a:blipFill>
          <a:ln w="57150" cap="sq">
            <a:solidFill>
              <a:srgbClr val="004AAD"/>
            </a:solidFill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-10800000">
            <a:off x="135535" y="8388735"/>
            <a:ext cx="6902105" cy="2986729"/>
          </a:xfrm>
          <a:custGeom>
            <a:avLst/>
            <a:gdLst/>
            <a:ahLst/>
            <a:cxnLst/>
            <a:rect r="r" b="b" t="t" l="l"/>
            <a:pathLst>
              <a:path h="2986729" w="6902105">
                <a:moveTo>
                  <a:pt x="0" y="0"/>
                </a:moveTo>
                <a:lnTo>
                  <a:pt x="6902105" y="0"/>
                </a:lnTo>
                <a:lnTo>
                  <a:pt x="6902105" y="2986729"/>
                </a:lnTo>
                <a:lnTo>
                  <a:pt x="0" y="2986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27429" y="6380546"/>
            <a:ext cx="6362387" cy="3759592"/>
          </a:xfrm>
          <a:custGeom>
            <a:avLst/>
            <a:gdLst/>
            <a:ahLst/>
            <a:cxnLst/>
            <a:rect r="r" b="b" t="t" l="l"/>
            <a:pathLst>
              <a:path h="3759592" w="6362387">
                <a:moveTo>
                  <a:pt x="0" y="0"/>
                </a:moveTo>
                <a:lnTo>
                  <a:pt x="6362386" y="0"/>
                </a:lnTo>
                <a:lnTo>
                  <a:pt x="6362386" y="3759592"/>
                </a:lnTo>
                <a:lnTo>
                  <a:pt x="0" y="37595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513768" y="260624"/>
            <a:ext cx="7793957" cy="1417083"/>
          </a:xfrm>
          <a:custGeom>
            <a:avLst/>
            <a:gdLst/>
            <a:ahLst/>
            <a:cxnLst/>
            <a:rect r="r" b="b" t="t" l="l"/>
            <a:pathLst>
              <a:path h="1417083" w="7793957">
                <a:moveTo>
                  <a:pt x="0" y="0"/>
                </a:moveTo>
                <a:lnTo>
                  <a:pt x="7793958" y="0"/>
                </a:lnTo>
                <a:lnTo>
                  <a:pt x="7793958" y="1417083"/>
                </a:lnTo>
                <a:lnTo>
                  <a:pt x="0" y="141708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586588" y="260624"/>
            <a:ext cx="1605731" cy="1585295"/>
          </a:xfrm>
          <a:custGeom>
            <a:avLst/>
            <a:gdLst/>
            <a:ahLst/>
            <a:cxnLst/>
            <a:rect r="r" b="b" t="t" l="l"/>
            <a:pathLst>
              <a:path h="1585295" w="1605731">
                <a:moveTo>
                  <a:pt x="0" y="0"/>
                </a:moveTo>
                <a:lnTo>
                  <a:pt x="1605731" y="0"/>
                </a:lnTo>
                <a:lnTo>
                  <a:pt x="1605731" y="1585295"/>
                </a:lnTo>
                <a:lnTo>
                  <a:pt x="0" y="15852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681749" y="-1941987"/>
            <a:ext cx="20184992" cy="2275399"/>
          </a:xfrm>
          <a:custGeom>
            <a:avLst/>
            <a:gdLst/>
            <a:ahLst/>
            <a:cxnLst/>
            <a:rect r="r" b="b" t="t" l="l"/>
            <a:pathLst>
              <a:path h="2275399" w="20184992">
                <a:moveTo>
                  <a:pt x="0" y="0"/>
                </a:moveTo>
                <a:lnTo>
                  <a:pt x="20184992" y="0"/>
                </a:lnTo>
                <a:lnTo>
                  <a:pt x="20184992" y="2275399"/>
                </a:lnTo>
                <a:lnTo>
                  <a:pt x="0" y="227539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818944" y="3504745"/>
            <a:ext cx="990451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0.85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33313" y="4945558"/>
            <a:ext cx="1070074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42.5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87979" y="3699891"/>
            <a:ext cx="47625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=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64167" y="4878659"/>
            <a:ext cx="47625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=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380488" y="457237"/>
            <a:ext cx="655245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 meassures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88094"/>
            <a:chOff x="0" y="0"/>
            <a:chExt cx="4816593" cy="497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276"/>
            </a:xfrm>
            <a:custGeom>
              <a:avLst/>
              <a:gdLst/>
              <a:ahLst/>
              <a:cxnLst/>
              <a:rect r="r" b="b" t="t" l="l"/>
              <a:pathLst>
                <a:path h="4972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276"/>
                  </a:lnTo>
                  <a:lnTo>
                    <a:pt x="0" y="497276"/>
                  </a:lnTo>
                  <a:close/>
                </a:path>
              </a:pathLst>
            </a:custGeom>
            <a:solidFill>
              <a:srgbClr val="A1D4E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497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720"/>
                </a:lnSpc>
                <a:spcBef>
                  <a:spcPct val="0"/>
                </a:spcBef>
              </a:pPr>
              <a:r>
                <a:rPr lang="en-US" b="true" sz="56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Post test probability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26367" y="2546042"/>
            <a:ext cx="4082462" cy="2597458"/>
            <a:chOff x="0" y="0"/>
            <a:chExt cx="1585734" cy="1008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85734" cy="1008920"/>
            </a:xfrm>
            <a:custGeom>
              <a:avLst/>
              <a:gdLst/>
              <a:ahLst/>
              <a:cxnLst/>
              <a:rect r="r" b="b" t="t" l="l"/>
              <a:pathLst>
                <a:path h="1008920" w="1585734">
                  <a:moveTo>
                    <a:pt x="792867" y="0"/>
                  </a:moveTo>
                  <a:cubicBezTo>
                    <a:pt x="354979" y="0"/>
                    <a:pt x="0" y="225854"/>
                    <a:pt x="0" y="504460"/>
                  </a:cubicBezTo>
                  <a:cubicBezTo>
                    <a:pt x="0" y="783065"/>
                    <a:pt x="354979" y="1008920"/>
                    <a:pt x="792867" y="1008920"/>
                  </a:cubicBezTo>
                  <a:cubicBezTo>
                    <a:pt x="1230755" y="1008920"/>
                    <a:pt x="1585734" y="783065"/>
                    <a:pt x="1585734" y="504460"/>
                  </a:cubicBezTo>
                  <a:cubicBezTo>
                    <a:pt x="1585734" y="225854"/>
                    <a:pt x="1230755" y="0"/>
                    <a:pt x="792867" y="0"/>
                  </a:cubicBez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48663" y="94586"/>
              <a:ext cx="1288408" cy="819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Gene Xpert MTB/RIF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59322" y="2546042"/>
            <a:ext cx="5569357" cy="7551670"/>
          </a:xfrm>
          <a:custGeom>
            <a:avLst/>
            <a:gdLst/>
            <a:ahLst/>
            <a:cxnLst/>
            <a:rect r="r" b="b" t="t" l="l"/>
            <a:pathLst>
              <a:path h="7551670" w="5569357">
                <a:moveTo>
                  <a:pt x="0" y="0"/>
                </a:moveTo>
                <a:lnTo>
                  <a:pt x="5569356" y="0"/>
                </a:lnTo>
                <a:lnTo>
                  <a:pt x="5569356" y="7551670"/>
                </a:lnTo>
                <a:lnTo>
                  <a:pt x="0" y="7551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57150" cap="sq">
            <a:solidFill>
              <a:srgbClr val="B26D4F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5400000">
            <a:off x="-8044312" y="3217500"/>
            <a:ext cx="12034245" cy="5207546"/>
          </a:xfrm>
          <a:custGeom>
            <a:avLst/>
            <a:gdLst/>
            <a:ahLst/>
            <a:cxnLst/>
            <a:rect r="r" b="b" t="t" l="l"/>
            <a:pathLst>
              <a:path h="5207546" w="12034245">
                <a:moveTo>
                  <a:pt x="0" y="0"/>
                </a:moveTo>
                <a:lnTo>
                  <a:pt x="12034244" y="0"/>
                </a:lnTo>
                <a:lnTo>
                  <a:pt x="12034244" y="5207546"/>
                </a:lnTo>
                <a:lnTo>
                  <a:pt x="0" y="520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4724326" y="3016019"/>
            <a:ext cx="10633401" cy="4601363"/>
          </a:xfrm>
          <a:custGeom>
            <a:avLst/>
            <a:gdLst/>
            <a:ahLst/>
            <a:cxnLst/>
            <a:rect r="r" b="b" t="t" l="l"/>
            <a:pathLst>
              <a:path h="4601363" w="10633401">
                <a:moveTo>
                  <a:pt x="0" y="0"/>
                </a:moveTo>
                <a:lnTo>
                  <a:pt x="10633402" y="0"/>
                </a:lnTo>
                <a:lnTo>
                  <a:pt x="10633402" y="4601363"/>
                </a:lnTo>
                <a:lnTo>
                  <a:pt x="0" y="4601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417402" y="-1774413"/>
            <a:ext cx="1888094" cy="5436919"/>
          </a:xfrm>
          <a:custGeom>
            <a:avLst/>
            <a:gdLst/>
            <a:ahLst/>
            <a:cxnLst/>
            <a:rect r="r" b="b" t="t" l="l"/>
            <a:pathLst>
              <a:path h="5436919" w="1888094">
                <a:moveTo>
                  <a:pt x="0" y="0"/>
                </a:moveTo>
                <a:lnTo>
                  <a:pt x="1888093" y="0"/>
                </a:lnTo>
                <a:lnTo>
                  <a:pt x="1888093" y="5436919"/>
                </a:lnTo>
                <a:lnTo>
                  <a:pt x="0" y="5436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0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4796976" y="-1774413"/>
            <a:ext cx="1888094" cy="5436919"/>
          </a:xfrm>
          <a:custGeom>
            <a:avLst/>
            <a:gdLst/>
            <a:ahLst/>
            <a:cxnLst/>
            <a:rect r="r" b="b" t="t" l="l"/>
            <a:pathLst>
              <a:path h="5436919" w="1888094">
                <a:moveTo>
                  <a:pt x="0" y="0"/>
                </a:moveTo>
                <a:lnTo>
                  <a:pt x="1888094" y="0"/>
                </a:lnTo>
                <a:lnTo>
                  <a:pt x="1888094" y="5436919"/>
                </a:lnTo>
                <a:lnTo>
                  <a:pt x="0" y="5436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16193" y="6910026"/>
            <a:ext cx="4750219" cy="3376974"/>
          </a:xfrm>
          <a:custGeom>
            <a:avLst/>
            <a:gdLst/>
            <a:ahLst/>
            <a:cxnLst/>
            <a:rect r="r" b="b" t="t" l="l"/>
            <a:pathLst>
              <a:path h="3376974" w="4750219">
                <a:moveTo>
                  <a:pt x="0" y="0"/>
                </a:moveTo>
                <a:lnTo>
                  <a:pt x="4750220" y="0"/>
                </a:lnTo>
                <a:lnTo>
                  <a:pt x="4750220" y="3376974"/>
                </a:lnTo>
                <a:lnTo>
                  <a:pt x="0" y="33769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220548" y="7802670"/>
            <a:ext cx="454151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 test probability = 0.009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80717" y="0"/>
            <a:ext cx="6207283" cy="10287000"/>
            <a:chOff x="0" y="0"/>
            <a:chExt cx="163484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484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34840">
                  <a:moveTo>
                    <a:pt x="0" y="0"/>
                  </a:moveTo>
                  <a:lnTo>
                    <a:pt x="1634840" y="0"/>
                  </a:lnTo>
                  <a:lnTo>
                    <a:pt x="16348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1D4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3484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806661"/>
            <a:ext cx="18288000" cy="480339"/>
            <a:chOff x="0" y="0"/>
            <a:chExt cx="4816593" cy="1265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26509"/>
            </a:xfrm>
            <a:custGeom>
              <a:avLst/>
              <a:gdLst/>
              <a:ahLst/>
              <a:cxnLst/>
              <a:rect r="r" b="b" t="t" l="l"/>
              <a:pathLst>
                <a:path h="1265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6509"/>
                  </a:lnTo>
                  <a:lnTo>
                    <a:pt x="0" y="126509"/>
                  </a:lnTo>
                  <a:close/>
                </a:path>
              </a:pathLst>
            </a:custGeom>
            <a:solidFill>
              <a:srgbClr val="F4956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816593" cy="126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35047" y="4447997"/>
            <a:ext cx="370418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Thank you!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61800" y="6338147"/>
            <a:ext cx="4149883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816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GROUP D6</a:t>
            </a:r>
          </a:p>
          <a:p>
            <a:pPr algn="l">
              <a:lnSpc>
                <a:spcPts val="3379"/>
              </a:lnSpc>
            </a:pPr>
            <a:r>
              <a:rPr lang="en-US" sz="2816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ALMAAZ SALIE </a:t>
            </a:r>
          </a:p>
          <a:p>
            <a:pPr algn="l">
              <a:lnSpc>
                <a:spcPts val="3379"/>
              </a:lnSpc>
            </a:pPr>
            <a:r>
              <a:rPr lang="en-US" sz="2816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YASMEEN SONDAY </a:t>
            </a:r>
          </a:p>
          <a:p>
            <a:pPr algn="l">
              <a:lnSpc>
                <a:spcPts val="3379"/>
              </a:lnSpc>
            </a:pPr>
            <a:r>
              <a:rPr lang="en-US" sz="2816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SANELISO KHUMALO </a:t>
            </a:r>
          </a:p>
          <a:p>
            <a:pPr algn="l">
              <a:lnSpc>
                <a:spcPts val="3379"/>
              </a:lnSpc>
            </a:pPr>
            <a:r>
              <a:rPr lang="en-US" sz="2816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FRANS VERGEEST </a:t>
            </a:r>
          </a:p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b="true" sz="281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MUAAZ ELLEMDIN</a:t>
            </a:r>
            <a:r>
              <a:rPr lang="en-US" sz="281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61800" y="2128202"/>
            <a:ext cx="3854648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GROUP C6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ADAM MORRIS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CARO GILIOMEE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MEGAN BOERLAGE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MUKELANI MKHIZE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-2247027">
            <a:off x="-536748" y="-2428031"/>
            <a:ext cx="5720072" cy="5412618"/>
          </a:xfrm>
          <a:custGeom>
            <a:avLst/>
            <a:gdLst/>
            <a:ahLst/>
            <a:cxnLst/>
            <a:rect r="r" b="b" t="t" l="l"/>
            <a:pathLst>
              <a:path h="5412618" w="5720072">
                <a:moveTo>
                  <a:pt x="0" y="0"/>
                </a:moveTo>
                <a:lnTo>
                  <a:pt x="5720072" y="0"/>
                </a:lnTo>
                <a:lnTo>
                  <a:pt x="5720072" y="5412618"/>
                </a:lnTo>
                <a:lnTo>
                  <a:pt x="0" y="541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247027">
            <a:off x="12176705" y="-2428031"/>
            <a:ext cx="5720072" cy="5412618"/>
          </a:xfrm>
          <a:custGeom>
            <a:avLst/>
            <a:gdLst/>
            <a:ahLst/>
            <a:cxnLst/>
            <a:rect r="r" b="b" t="t" l="l"/>
            <a:pathLst>
              <a:path h="5412618" w="5720072">
                <a:moveTo>
                  <a:pt x="0" y="0"/>
                </a:moveTo>
                <a:lnTo>
                  <a:pt x="5720072" y="0"/>
                </a:lnTo>
                <a:lnTo>
                  <a:pt x="5720072" y="5412618"/>
                </a:lnTo>
                <a:lnTo>
                  <a:pt x="0" y="541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247027">
            <a:off x="5850615" y="-2428031"/>
            <a:ext cx="5720072" cy="5412618"/>
          </a:xfrm>
          <a:custGeom>
            <a:avLst/>
            <a:gdLst/>
            <a:ahLst/>
            <a:cxnLst/>
            <a:rect r="r" b="b" t="t" l="l"/>
            <a:pathLst>
              <a:path h="5412618" w="5720072">
                <a:moveTo>
                  <a:pt x="0" y="0"/>
                </a:moveTo>
                <a:lnTo>
                  <a:pt x="5720072" y="0"/>
                </a:lnTo>
                <a:lnTo>
                  <a:pt x="5720072" y="5412618"/>
                </a:lnTo>
                <a:lnTo>
                  <a:pt x="0" y="541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DAGo7ooXkQk</dc:identifier>
  <dcterms:modified xsi:type="dcterms:W3CDTF">2011-08-01T06:04:30Z</dcterms:modified>
  <cp:revision>1</cp:revision>
  <dc:title>Blue Doodle Project Presentation</dc:title>
</cp:coreProperties>
</file>